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0"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1" d="100"/>
          <a:sy n="71" d="100"/>
        </p:scale>
        <p:origin x="69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9A556B43-BCEB-46E4-832D-BBBC669ECC40}" type="datetimeFigureOut">
              <a:rPr lang="en-US" smtClean="0"/>
              <a:t>10/30/2023</a:t>
            </a:fld>
            <a:endParaRPr lang="en-US"/>
          </a:p>
        </p:txBody>
      </p:sp>
      <p:sp>
        <p:nvSpPr>
          <p:cNvPr id="5" name="Footer Placeholder 4"/>
          <p:cNvSpPr>
            <a:spLocks noGrp="1"/>
          </p:cNvSpPr>
          <p:nvPr>
            <p:ph type="ftr" sz="quarter" idx="11"/>
          </p:nvPr>
        </p:nvSpPr>
        <p:spPr>
          <a:xfrm>
            <a:off x="1371600" y="4323845"/>
            <a:ext cx="6400800" cy="365125"/>
          </a:xfrm>
        </p:spPr>
        <p:txBody>
          <a:bodyPr/>
          <a:lstStyle/>
          <a:p>
            <a:endParaRPr lang="en-US"/>
          </a:p>
        </p:txBody>
      </p:sp>
      <p:sp>
        <p:nvSpPr>
          <p:cNvPr id="6" name="Slide Number Placeholder 5"/>
          <p:cNvSpPr>
            <a:spLocks noGrp="1"/>
          </p:cNvSpPr>
          <p:nvPr>
            <p:ph type="sldNum" sz="quarter" idx="12"/>
          </p:nvPr>
        </p:nvSpPr>
        <p:spPr>
          <a:xfrm>
            <a:off x="8077200" y="1430866"/>
            <a:ext cx="2743200" cy="365125"/>
          </a:xfrm>
        </p:spPr>
        <p:txBody>
          <a:bodyPr/>
          <a:lstStyle/>
          <a:p>
            <a:fld id="{BCFA9BDF-8A59-4544-9F22-4CB01AD6F9AD}" type="slidenum">
              <a:rPr lang="en-US" smtClean="0"/>
              <a:t>‹#›</a:t>
            </a:fld>
            <a:endParaRPr lang="en-US"/>
          </a:p>
        </p:txBody>
      </p:sp>
    </p:spTree>
    <p:extLst>
      <p:ext uri="{BB962C8B-B14F-4D97-AF65-F5344CB8AC3E}">
        <p14:creationId xmlns:p14="http://schemas.microsoft.com/office/powerpoint/2010/main" val="30094995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A556B43-BCEB-46E4-832D-BBBC669ECC40}" type="datetimeFigureOut">
              <a:rPr lang="en-US" smtClean="0"/>
              <a:t>10/30/2023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FA9BDF-8A59-4544-9F22-4CB01AD6F9AD}" type="slidenum">
              <a:rPr lang="en-US" smtClean="0"/>
              <a:t>‹#›</a:t>
            </a:fld>
            <a:endParaRPr lang="en-US"/>
          </a:p>
        </p:txBody>
      </p:sp>
    </p:spTree>
    <p:extLst>
      <p:ext uri="{BB962C8B-B14F-4D97-AF65-F5344CB8AC3E}">
        <p14:creationId xmlns:p14="http://schemas.microsoft.com/office/powerpoint/2010/main" val="3690687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9A556B43-BCEB-46E4-832D-BBBC669ECC40}" type="datetimeFigureOut">
              <a:rPr lang="en-US" smtClean="0"/>
              <a:t>10/30/2023</a:t>
            </a:fld>
            <a:endParaRPr lang="en-US"/>
          </a:p>
        </p:txBody>
      </p:sp>
      <p:sp>
        <p:nvSpPr>
          <p:cNvPr id="5" name="Footer Placeholder 4"/>
          <p:cNvSpPr>
            <a:spLocks noGrp="1"/>
          </p:cNvSpPr>
          <p:nvPr>
            <p:ph type="ftr" sz="quarter" idx="11"/>
          </p:nvPr>
        </p:nvSpPr>
        <p:spPr>
          <a:xfrm>
            <a:off x="685800" y="381001"/>
            <a:ext cx="6991492" cy="36406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BCFA9BDF-8A59-4544-9F22-4CB01AD6F9AD}" type="slidenum">
              <a:rPr lang="en-US" smtClean="0"/>
              <a:t>‹#›</a:t>
            </a:fld>
            <a:endParaRPr lang="en-US"/>
          </a:p>
        </p:txBody>
      </p:sp>
    </p:spTree>
    <p:extLst>
      <p:ext uri="{BB962C8B-B14F-4D97-AF65-F5344CB8AC3E}">
        <p14:creationId xmlns:p14="http://schemas.microsoft.com/office/powerpoint/2010/main" val="28066606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A556B43-BCEB-46E4-832D-BBBC669ECC40}" type="datetimeFigureOut">
              <a:rPr lang="en-US" smtClean="0"/>
              <a:t>10/30/2023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FA9BDF-8A59-4544-9F22-4CB01AD6F9AD}" type="slidenum">
              <a:rPr lang="en-US" smtClean="0"/>
              <a:t>‹#›</a:t>
            </a:fld>
            <a:endParaRPr lang="en-US"/>
          </a:p>
        </p:txBody>
      </p:sp>
    </p:spTree>
    <p:extLst>
      <p:ext uri="{BB962C8B-B14F-4D97-AF65-F5344CB8AC3E}">
        <p14:creationId xmlns:p14="http://schemas.microsoft.com/office/powerpoint/2010/main" val="38546839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A556B43-BCEB-46E4-832D-BBBC669ECC40}" type="datetimeFigureOut">
              <a:rPr lang="en-US" smtClean="0"/>
              <a:t>10/30/2023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CFA9BDF-8A59-4544-9F22-4CB01AD6F9AD}" type="slidenum">
              <a:rPr lang="en-US" smtClean="0"/>
              <a:t>‹#›</a:t>
            </a:fld>
            <a:endParaRPr lang="en-US"/>
          </a:p>
        </p:txBody>
      </p:sp>
    </p:spTree>
    <p:extLst>
      <p:ext uri="{BB962C8B-B14F-4D97-AF65-F5344CB8AC3E}">
        <p14:creationId xmlns:p14="http://schemas.microsoft.com/office/powerpoint/2010/main" val="2071692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A556B43-BCEB-46E4-832D-BBBC669ECC40}" type="datetimeFigureOut">
              <a:rPr lang="en-US" smtClean="0"/>
              <a:t>10/30/2023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CFA9BDF-8A59-4544-9F22-4CB01AD6F9AD}" type="slidenum">
              <a:rPr lang="en-US" smtClean="0"/>
              <a:t>‹#›</a:t>
            </a:fld>
            <a:endParaRPr lang="en-US"/>
          </a:p>
        </p:txBody>
      </p:sp>
    </p:spTree>
    <p:extLst>
      <p:ext uri="{BB962C8B-B14F-4D97-AF65-F5344CB8AC3E}">
        <p14:creationId xmlns:p14="http://schemas.microsoft.com/office/powerpoint/2010/main" val="23510405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556B43-BCEB-46E4-832D-BBBC669ECC40}" type="datetimeFigureOut">
              <a:rPr lang="en-US" smtClean="0"/>
              <a:t>10/30/2023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CFA9BDF-8A59-4544-9F22-4CB01AD6F9AD}" type="slidenum">
              <a:rPr lang="en-US" smtClean="0"/>
              <a:t>‹#›</a:t>
            </a:fld>
            <a:endParaRPr lang="en-US"/>
          </a:p>
        </p:txBody>
      </p:sp>
    </p:spTree>
    <p:extLst>
      <p:ext uri="{BB962C8B-B14F-4D97-AF65-F5344CB8AC3E}">
        <p14:creationId xmlns:p14="http://schemas.microsoft.com/office/powerpoint/2010/main" val="6066401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A556B43-BCEB-46E4-832D-BBBC669ECC40}" type="datetimeFigureOut">
              <a:rPr lang="en-US" smtClean="0"/>
              <a:t>10/30/2023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FA9BDF-8A59-4544-9F22-4CB01AD6F9AD}" type="slidenum">
              <a:rPr lang="en-US" smtClean="0"/>
              <a:t>‹#›</a:t>
            </a:fld>
            <a:endParaRPr lang="en-US"/>
          </a:p>
        </p:txBody>
      </p:sp>
    </p:spTree>
    <p:extLst>
      <p:ext uri="{BB962C8B-B14F-4D97-AF65-F5344CB8AC3E}">
        <p14:creationId xmlns:p14="http://schemas.microsoft.com/office/powerpoint/2010/main" val="40939352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A556B43-BCEB-46E4-832D-BBBC669ECC40}" type="datetimeFigureOut">
              <a:rPr lang="en-US" smtClean="0"/>
              <a:t>10/30/2023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FA9BDF-8A59-4544-9F22-4CB01AD6F9AD}" type="slidenum">
              <a:rPr lang="en-US" smtClean="0"/>
              <a:t>‹#›</a:t>
            </a:fld>
            <a:endParaRPr lang="en-US"/>
          </a:p>
        </p:txBody>
      </p:sp>
    </p:spTree>
    <p:extLst>
      <p:ext uri="{BB962C8B-B14F-4D97-AF65-F5344CB8AC3E}">
        <p14:creationId xmlns:p14="http://schemas.microsoft.com/office/powerpoint/2010/main" val="29989614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A556B43-BCEB-46E4-832D-BBBC669ECC40}" type="datetimeFigureOut">
              <a:rPr lang="en-US" smtClean="0"/>
              <a:t>10/30/2023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FA9BDF-8A59-4544-9F22-4CB01AD6F9AD}" type="slidenum">
              <a:rPr lang="en-US" smtClean="0"/>
              <a:t>‹#›</a:t>
            </a:fld>
            <a:endParaRPr lang="en-US"/>
          </a:p>
        </p:txBody>
      </p:sp>
    </p:spTree>
    <p:extLst>
      <p:ext uri="{BB962C8B-B14F-4D97-AF65-F5344CB8AC3E}">
        <p14:creationId xmlns:p14="http://schemas.microsoft.com/office/powerpoint/2010/main" val="41797738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9A556B43-BCEB-46E4-832D-BBBC669ECC40}" type="datetimeFigureOut">
              <a:rPr lang="en-US" smtClean="0"/>
              <a:t>10/30/2023</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BCFA9BDF-8A59-4544-9F22-4CB01AD6F9AD}" type="slidenum">
              <a:rPr lang="en-US" smtClean="0"/>
              <a:t>‹#›</a:t>
            </a:fld>
            <a:endParaRPr lang="en-US"/>
          </a:p>
        </p:txBody>
      </p:sp>
    </p:spTree>
    <p:extLst>
      <p:ext uri="{BB962C8B-B14F-4D97-AF65-F5344CB8AC3E}">
        <p14:creationId xmlns:p14="http://schemas.microsoft.com/office/powerpoint/2010/main" val="889206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9A556B43-BCEB-46E4-832D-BBBC669ECC40}" type="datetimeFigureOut">
              <a:rPr lang="en-US" smtClean="0"/>
              <a:t>10/30/2023</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BCFA9BDF-8A59-4544-9F22-4CB01AD6F9AD}" type="slidenum">
              <a:rPr lang="en-US" smtClean="0"/>
              <a:t>‹#›</a:t>
            </a:fld>
            <a:endParaRPr lang="en-US"/>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5771880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9A556B43-BCEB-46E4-832D-BBBC669ECC40}" type="datetimeFigureOut">
              <a:rPr lang="en-US" smtClean="0"/>
              <a:t>10/30/2023</a:t>
            </a:fld>
            <a:endParaRPr lang="en-US"/>
          </a:p>
        </p:txBody>
      </p:sp>
      <p:sp>
        <p:nvSpPr>
          <p:cNvPr id="6" name="Footer Placeholder 5"/>
          <p:cNvSpPr>
            <a:spLocks noGrp="1"/>
          </p:cNvSpPr>
          <p:nvPr>
            <p:ph type="ftr" sz="quarter" idx="11"/>
          </p:nvPr>
        </p:nvSpPr>
        <p:spPr>
          <a:xfrm>
            <a:off x="685800" y="378883"/>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BCFA9BDF-8A59-4544-9F22-4CB01AD6F9AD}" type="slidenum">
              <a:rPr lang="en-US" smtClean="0"/>
              <a:t>‹#›</a:t>
            </a:fld>
            <a:endParaRPr lang="en-US"/>
          </a:p>
        </p:txBody>
      </p:sp>
    </p:spTree>
    <p:extLst>
      <p:ext uri="{BB962C8B-B14F-4D97-AF65-F5344CB8AC3E}">
        <p14:creationId xmlns:p14="http://schemas.microsoft.com/office/powerpoint/2010/main" val="5339180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9A556B43-BCEB-46E4-832D-BBBC669ECC40}" type="datetimeFigureOut">
              <a:rPr lang="en-US" smtClean="0"/>
              <a:t>10/30/2023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CFA9BDF-8A59-4544-9F22-4CB01AD6F9AD}" type="slidenum">
              <a:rPr lang="en-US" smtClean="0"/>
              <a:t>‹#›</a:t>
            </a:fld>
            <a:endParaRPr lang="en-US"/>
          </a:p>
        </p:txBody>
      </p:sp>
    </p:spTree>
    <p:extLst>
      <p:ext uri="{BB962C8B-B14F-4D97-AF65-F5344CB8AC3E}">
        <p14:creationId xmlns:p14="http://schemas.microsoft.com/office/powerpoint/2010/main" val="31253913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9A556B43-BCEB-46E4-832D-BBBC669ECC40}" type="datetimeFigureOut">
              <a:rPr lang="en-US" smtClean="0"/>
              <a:t>10/30/2023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CFA9BDF-8A59-4544-9F22-4CB01AD6F9AD}" type="slidenum">
              <a:rPr lang="en-US" smtClean="0"/>
              <a:t>‹#›</a:t>
            </a:fld>
            <a:endParaRPr lang="en-US"/>
          </a:p>
        </p:txBody>
      </p:sp>
    </p:spTree>
    <p:extLst>
      <p:ext uri="{BB962C8B-B14F-4D97-AF65-F5344CB8AC3E}">
        <p14:creationId xmlns:p14="http://schemas.microsoft.com/office/powerpoint/2010/main" val="32190193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A556B43-BCEB-46E4-832D-BBBC669ECC40}" type="datetimeFigureOut">
              <a:rPr lang="en-US" smtClean="0"/>
              <a:t>10/30/2023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FA9BDF-8A59-4544-9F22-4CB01AD6F9AD}" type="slidenum">
              <a:rPr lang="en-US" smtClean="0"/>
              <a:t>‹#›</a:t>
            </a:fld>
            <a:endParaRPr lang="en-US"/>
          </a:p>
        </p:txBody>
      </p:sp>
    </p:spTree>
    <p:extLst>
      <p:ext uri="{BB962C8B-B14F-4D97-AF65-F5344CB8AC3E}">
        <p14:creationId xmlns:p14="http://schemas.microsoft.com/office/powerpoint/2010/main" val="36707166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9A556B43-BCEB-46E4-832D-BBBC669ECC40}" type="datetimeFigureOut">
              <a:rPr lang="en-US" smtClean="0"/>
              <a:t>10/30/2023</a:t>
            </a:fld>
            <a:endParaRPr lang="en-US"/>
          </a:p>
        </p:txBody>
      </p:sp>
      <p:sp>
        <p:nvSpPr>
          <p:cNvPr id="5" name="Footer Placeholder 4"/>
          <p:cNvSpPr>
            <a:spLocks noGrp="1"/>
          </p:cNvSpPr>
          <p:nvPr>
            <p:ph type="ftr" sz="quarter" idx="11"/>
          </p:nvPr>
        </p:nvSpPr>
        <p:spPr>
          <a:xfrm>
            <a:off x="685800" y="381000"/>
            <a:ext cx="6991492" cy="36512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BCFA9BDF-8A59-4544-9F22-4CB01AD6F9AD}" type="slidenum">
              <a:rPr lang="en-US" smtClean="0"/>
              <a:t>‹#›</a:t>
            </a:fld>
            <a:endParaRPr lang="en-US"/>
          </a:p>
        </p:txBody>
      </p:sp>
    </p:spTree>
    <p:extLst>
      <p:ext uri="{BB962C8B-B14F-4D97-AF65-F5344CB8AC3E}">
        <p14:creationId xmlns:p14="http://schemas.microsoft.com/office/powerpoint/2010/main" val="4352900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2-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A556B43-BCEB-46E4-832D-BBBC669ECC40}" type="datetimeFigureOut">
              <a:rPr lang="en-US" smtClean="0"/>
              <a:t>10/30/2023</a:t>
            </a:fld>
            <a:endParaRPr lang="en-US"/>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CFA9BDF-8A59-4544-9F22-4CB01AD6F9AD}" type="slidenum">
              <a:rPr lang="en-US" smtClean="0"/>
              <a:t>‹#›</a:t>
            </a:fld>
            <a:endParaRPr lang="en-US"/>
          </a:p>
        </p:txBody>
      </p:sp>
    </p:spTree>
    <p:extLst>
      <p:ext uri="{BB962C8B-B14F-4D97-AF65-F5344CB8AC3E}">
        <p14:creationId xmlns:p14="http://schemas.microsoft.com/office/powerpoint/2010/main" val="3243552253"/>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 id="2147483792" r:id="rId12"/>
    <p:sldLayoutId id="2147483793" r:id="rId13"/>
    <p:sldLayoutId id="2147483794" r:id="rId14"/>
    <p:sldLayoutId id="2147483795" r:id="rId15"/>
    <p:sldLayoutId id="2147483796" r:id="rId16"/>
    <p:sldLayoutId id="2147483797"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F88F9-202F-4A99-9F58-A31ADB7733F1}"/>
              </a:ext>
            </a:extLst>
          </p:cNvPr>
          <p:cNvSpPr>
            <a:spLocks noGrp="1"/>
          </p:cNvSpPr>
          <p:nvPr>
            <p:ph type="ctrTitle"/>
          </p:nvPr>
        </p:nvSpPr>
        <p:spPr/>
        <p:txBody>
          <a:bodyPr/>
          <a:lstStyle/>
          <a:p>
            <a:r>
              <a:rPr lang="en-US" b="1" dirty="0"/>
              <a:t>TOPIC 10: File Handling</a:t>
            </a:r>
          </a:p>
        </p:txBody>
      </p:sp>
      <p:sp>
        <p:nvSpPr>
          <p:cNvPr id="3" name="Subtitle 2">
            <a:extLst>
              <a:ext uri="{FF2B5EF4-FFF2-40B4-BE49-F238E27FC236}">
                <a16:creationId xmlns:a16="http://schemas.microsoft.com/office/drawing/2014/main" id="{1EE280C4-EBB4-42E7-AEF7-A5ED813304C9}"/>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8517806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A9913-D535-40E5-B343-ABD44BCF8026}"/>
              </a:ext>
            </a:extLst>
          </p:cNvPr>
          <p:cNvSpPr>
            <a:spLocks noGrp="1"/>
          </p:cNvSpPr>
          <p:nvPr>
            <p:ph type="title"/>
          </p:nvPr>
        </p:nvSpPr>
        <p:spPr/>
        <p:txBody>
          <a:bodyPr>
            <a:normAutofit/>
          </a:bodyPr>
          <a:lstStyle/>
          <a:p>
            <a:pPr algn="l"/>
            <a:r>
              <a:rPr lang="en-US" sz="4400" b="1" dirty="0"/>
              <a:t>CONTENTS</a:t>
            </a:r>
          </a:p>
        </p:txBody>
      </p:sp>
      <p:sp>
        <p:nvSpPr>
          <p:cNvPr id="3" name="Content Placeholder 2">
            <a:extLst>
              <a:ext uri="{FF2B5EF4-FFF2-40B4-BE49-F238E27FC236}">
                <a16:creationId xmlns:a16="http://schemas.microsoft.com/office/drawing/2014/main" id="{C6B99B10-FF8B-4B6F-B656-DAF32A465ECE}"/>
              </a:ext>
            </a:extLst>
          </p:cNvPr>
          <p:cNvSpPr>
            <a:spLocks noGrp="1"/>
          </p:cNvSpPr>
          <p:nvPr>
            <p:ph idx="1"/>
          </p:nvPr>
        </p:nvSpPr>
        <p:spPr/>
        <p:txBody>
          <a:bodyPr>
            <a:normAutofit/>
          </a:bodyPr>
          <a:lstStyle/>
          <a:p>
            <a:pPr>
              <a:buFont typeface="Wingdings" panose="05000000000000000000" pitchFamily="2" charset="2"/>
              <a:buChar char="ü"/>
            </a:pPr>
            <a:r>
              <a:rPr lang="en-US" sz="2800" dirty="0"/>
              <a:t>10.1 File Input and Output </a:t>
            </a:r>
          </a:p>
          <a:p>
            <a:pPr>
              <a:buFont typeface="Wingdings" panose="05000000000000000000" pitchFamily="2" charset="2"/>
              <a:buChar char="ü"/>
            </a:pPr>
            <a:r>
              <a:rPr lang="en-US" sz="2800" dirty="0"/>
              <a:t>10.2 Using Loops to Process Files </a:t>
            </a:r>
          </a:p>
          <a:p>
            <a:pPr>
              <a:buFont typeface="Wingdings" panose="05000000000000000000" pitchFamily="2" charset="2"/>
              <a:buChar char="ü"/>
            </a:pPr>
            <a:r>
              <a:rPr lang="en-US" sz="2800" dirty="0"/>
              <a:t>10.3 Processing Records </a:t>
            </a:r>
          </a:p>
        </p:txBody>
      </p:sp>
    </p:spTree>
    <p:extLst>
      <p:ext uri="{BB962C8B-B14F-4D97-AF65-F5344CB8AC3E}">
        <p14:creationId xmlns:p14="http://schemas.microsoft.com/office/powerpoint/2010/main" val="8498607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20BD7-2EFB-433E-922E-212786AAD8BD}"/>
              </a:ext>
            </a:extLst>
          </p:cNvPr>
          <p:cNvSpPr>
            <a:spLocks noGrp="1"/>
          </p:cNvSpPr>
          <p:nvPr>
            <p:ph type="title"/>
          </p:nvPr>
        </p:nvSpPr>
        <p:spPr>
          <a:xfrm>
            <a:off x="3366247" y="219774"/>
            <a:ext cx="8610600" cy="1293028"/>
          </a:xfrm>
          <a:solidFill>
            <a:schemeClr val="accent5">
              <a:lumMod val="40000"/>
              <a:lumOff val="60000"/>
            </a:schemeClr>
          </a:solidFill>
        </p:spPr>
        <p:txBody>
          <a:bodyPr/>
          <a:lstStyle/>
          <a:p>
            <a:pPr algn="ctr"/>
            <a:r>
              <a:rPr lang="en-US" b="1" dirty="0"/>
              <a:t>Introduction to File Input and Output</a:t>
            </a:r>
          </a:p>
        </p:txBody>
      </p:sp>
      <p:sp>
        <p:nvSpPr>
          <p:cNvPr id="3" name="Content Placeholder 2">
            <a:extLst>
              <a:ext uri="{FF2B5EF4-FFF2-40B4-BE49-F238E27FC236}">
                <a16:creationId xmlns:a16="http://schemas.microsoft.com/office/drawing/2014/main" id="{A41CA37A-E02E-4D6A-B241-EE0BD38D57A3}"/>
              </a:ext>
            </a:extLst>
          </p:cNvPr>
          <p:cNvSpPr>
            <a:spLocks noGrp="1"/>
          </p:cNvSpPr>
          <p:nvPr>
            <p:ph idx="1"/>
          </p:nvPr>
        </p:nvSpPr>
        <p:spPr>
          <a:xfrm>
            <a:off x="685799" y="1512802"/>
            <a:ext cx="10820400" cy="750346"/>
          </a:xfrm>
        </p:spPr>
        <p:txBody>
          <a:bodyPr/>
          <a:lstStyle/>
          <a:p>
            <a:r>
              <a:rPr lang="en-US" dirty="0"/>
              <a:t>When a program needs to save data for later use, it writes the data in a file. The data can be read from the file at a later time.</a:t>
            </a:r>
          </a:p>
        </p:txBody>
      </p:sp>
      <p:sp>
        <p:nvSpPr>
          <p:cNvPr id="4" name="Rectangle 3">
            <a:extLst>
              <a:ext uri="{FF2B5EF4-FFF2-40B4-BE49-F238E27FC236}">
                <a16:creationId xmlns:a16="http://schemas.microsoft.com/office/drawing/2014/main" id="{328968E5-00B7-49B8-A51C-FA93CC017ABC}"/>
              </a:ext>
            </a:extLst>
          </p:cNvPr>
          <p:cNvSpPr/>
          <p:nvPr/>
        </p:nvSpPr>
        <p:spPr>
          <a:xfrm>
            <a:off x="685799" y="2411065"/>
            <a:ext cx="10573871" cy="3970318"/>
          </a:xfrm>
          <a:prstGeom prst="rect">
            <a:avLst/>
          </a:prstGeom>
        </p:spPr>
        <p:txBody>
          <a:bodyPr wrap="square">
            <a:spAutoFit/>
          </a:bodyPr>
          <a:lstStyle/>
          <a:p>
            <a:pPr marL="285750" indent="-285750" algn="just">
              <a:buFont typeface="Wingdings" panose="05000000000000000000" pitchFamily="2" charset="2"/>
              <a:buChar char="Ø"/>
            </a:pPr>
            <a:r>
              <a:rPr lang="en-US" b="1" dirty="0"/>
              <a:t>Word processors</a:t>
            </a:r>
            <a:r>
              <a:rPr lang="en-US" dirty="0"/>
              <a:t>. Word processing programs are used to write letters, memos, reports, and other documents. The documents are then saved in files so they can be edited and printed.</a:t>
            </a:r>
          </a:p>
          <a:p>
            <a:pPr marL="285750" indent="-285750" algn="just">
              <a:buFont typeface="Wingdings" panose="05000000000000000000" pitchFamily="2" charset="2"/>
              <a:buChar char="Ø"/>
            </a:pPr>
            <a:r>
              <a:rPr lang="en-US" b="1" dirty="0"/>
              <a:t>Image editors</a:t>
            </a:r>
            <a:r>
              <a:rPr lang="en-US" dirty="0"/>
              <a:t>. Image editing programs are used to draw graphics and edit images, such as the ones that you take with a digital camera. The images that you create or edit with an image editor are saved in files.</a:t>
            </a:r>
          </a:p>
          <a:p>
            <a:pPr marL="285750" indent="-285750" algn="just">
              <a:buFont typeface="Wingdings" panose="05000000000000000000" pitchFamily="2" charset="2"/>
              <a:buChar char="Ø"/>
            </a:pPr>
            <a:r>
              <a:rPr lang="en-US" b="1" dirty="0"/>
              <a:t>Spreadsheets</a:t>
            </a:r>
            <a:r>
              <a:rPr lang="en-US" dirty="0"/>
              <a:t>. Spreadsheet programs are used to work with numerical data. Numbers and mathematical formulas can be inserted into the rows and columns of the spreadsheet. The spreadsheet can then be saved in a file for use later.</a:t>
            </a:r>
          </a:p>
          <a:p>
            <a:pPr marL="285750" indent="-285750" algn="just">
              <a:buFont typeface="Wingdings" panose="05000000000000000000" pitchFamily="2" charset="2"/>
              <a:buChar char="Ø"/>
            </a:pPr>
            <a:r>
              <a:rPr lang="en-US" b="1" dirty="0"/>
              <a:t>Games</a:t>
            </a:r>
            <a:r>
              <a:rPr lang="en-US" dirty="0"/>
              <a:t>. Many computer games keep data stored in files. For example, some games keep a list of player names with their scores stored in a file. </a:t>
            </a:r>
          </a:p>
          <a:p>
            <a:pPr marL="285750" indent="-285750" algn="just">
              <a:buFont typeface="Wingdings" panose="05000000000000000000" pitchFamily="2" charset="2"/>
              <a:buChar char="Ø"/>
            </a:pPr>
            <a:r>
              <a:rPr lang="en-US" b="1" dirty="0"/>
              <a:t>Web browsers. </a:t>
            </a:r>
            <a:r>
              <a:rPr lang="en-US" dirty="0"/>
              <a:t>Sometimes when you visit a Web page, the browser stores a small file known as a cookie on your computer. Cookies typically contain information about the browsing session, such as the contents of a shopping cart.</a:t>
            </a:r>
          </a:p>
        </p:txBody>
      </p:sp>
    </p:spTree>
    <p:extLst>
      <p:ext uri="{BB962C8B-B14F-4D97-AF65-F5344CB8AC3E}">
        <p14:creationId xmlns:p14="http://schemas.microsoft.com/office/powerpoint/2010/main" val="5159652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F515B-FEE2-4366-8F2E-067E080EE31C}"/>
              </a:ext>
            </a:extLst>
          </p:cNvPr>
          <p:cNvSpPr>
            <a:spLocks noGrp="1"/>
          </p:cNvSpPr>
          <p:nvPr>
            <p:ph type="title"/>
          </p:nvPr>
        </p:nvSpPr>
        <p:spPr>
          <a:xfrm>
            <a:off x="3003176" y="253385"/>
            <a:ext cx="8610600" cy="1198897"/>
          </a:xfrm>
          <a:solidFill>
            <a:schemeClr val="accent6">
              <a:lumMod val="20000"/>
              <a:lumOff val="80000"/>
            </a:schemeClr>
          </a:solidFill>
        </p:spPr>
        <p:txBody>
          <a:bodyPr/>
          <a:lstStyle/>
          <a:p>
            <a:pPr algn="ctr"/>
            <a:r>
              <a:rPr lang="en-US" b="1" dirty="0"/>
              <a:t>how to write data to files and read data from files</a:t>
            </a:r>
          </a:p>
        </p:txBody>
      </p:sp>
      <p:sp>
        <p:nvSpPr>
          <p:cNvPr id="3" name="Content Placeholder 2">
            <a:extLst>
              <a:ext uri="{FF2B5EF4-FFF2-40B4-BE49-F238E27FC236}">
                <a16:creationId xmlns:a16="http://schemas.microsoft.com/office/drawing/2014/main" id="{E67A568D-3A79-47AD-B546-E2F6B3F7F4F7}"/>
              </a:ext>
            </a:extLst>
          </p:cNvPr>
          <p:cNvSpPr>
            <a:spLocks noGrp="1"/>
          </p:cNvSpPr>
          <p:nvPr>
            <p:ph idx="1"/>
          </p:nvPr>
        </p:nvSpPr>
        <p:spPr>
          <a:xfrm>
            <a:off x="685800" y="2060090"/>
            <a:ext cx="10820400" cy="3506993"/>
          </a:xfrm>
        </p:spPr>
        <p:txBody>
          <a:bodyPr>
            <a:normAutofit fontScale="92500" lnSpcReduction="20000"/>
          </a:bodyPr>
          <a:lstStyle/>
          <a:p>
            <a:pPr marL="457200" indent="-457200">
              <a:lnSpc>
                <a:spcPct val="150000"/>
              </a:lnSpc>
              <a:buFont typeface="+mj-lt"/>
              <a:buAutoNum type="arabicPeriod"/>
            </a:pPr>
            <a:r>
              <a:rPr lang="en-US" b="1" dirty="0"/>
              <a:t>Open the file. </a:t>
            </a:r>
            <a:r>
              <a:rPr lang="en-US" dirty="0"/>
              <a:t>Opening a file creates a connection between the file and the program. Opening an output file usually creates the file on the disk and allows the program to write data to it. Opening an input file allows the program to read data from the file.</a:t>
            </a:r>
          </a:p>
          <a:p>
            <a:pPr marL="457200" indent="-457200">
              <a:lnSpc>
                <a:spcPct val="150000"/>
              </a:lnSpc>
              <a:buFont typeface="+mj-lt"/>
              <a:buAutoNum type="arabicPeriod"/>
            </a:pPr>
            <a:r>
              <a:rPr lang="en-US" b="1" dirty="0"/>
              <a:t>Process the file. </a:t>
            </a:r>
            <a:r>
              <a:rPr lang="en-US" dirty="0"/>
              <a:t>In this step, data is either written to the file (if it is an output file) or read from the file (if it is an input file).</a:t>
            </a:r>
          </a:p>
          <a:p>
            <a:pPr marL="457200" indent="-457200">
              <a:lnSpc>
                <a:spcPct val="150000"/>
              </a:lnSpc>
              <a:buFont typeface="+mj-lt"/>
              <a:buAutoNum type="arabicPeriod"/>
            </a:pPr>
            <a:r>
              <a:rPr lang="en-US" b="1" dirty="0"/>
              <a:t>Close the file. </a:t>
            </a:r>
            <a:r>
              <a:rPr lang="en-US" dirty="0"/>
              <a:t>When the program is finished using the file, the file must be closed. Closing a file disconnects the file from the program.</a:t>
            </a:r>
          </a:p>
        </p:txBody>
      </p:sp>
    </p:spTree>
    <p:extLst>
      <p:ext uri="{BB962C8B-B14F-4D97-AF65-F5344CB8AC3E}">
        <p14:creationId xmlns:p14="http://schemas.microsoft.com/office/powerpoint/2010/main" val="7999125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F85F5-D004-4760-B5AF-D97F340B97A9}"/>
              </a:ext>
            </a:extLst>
          </p:cNvPr>
          <p:cNvSpPr>
            <a:spLocks noGrp="1"/>
          </p:cNvSpPr>
          <p:nvPr>
            <p:ph type="title"/>
          </p:nvPr>
        </p:nvSpPr>
        <p:spPr>
          <a:xfrm>
            <a:off x="3204882" y="-136580"/>
            <a:ext cx="8610600" cy="1293028"/>
          </a:xfrm>
        </p:spPr>
        <p:txBody>
          <a:bodyPr/>
          <a:lstStyle/>
          <a:p>
            <a:pPr algn="ctr"/>
            <a:r>
              <a:rPr lang="en-US" b="1" dirty="0"/>
              <a:t>Opening a File</a:t>
            </a:r>
          </a:p>
        </p:txBody>
      </p:sp>
      <p:sp>
        <p:nvSpPr>
          <p:cNvPr id="3" name="Content Placeholder 2">
            <a:extLst>
              <a:ext uri="{FF2B5EF4-FFF2-40B4-BE49-F238E27FC236}">
                <a16:creationId xmlns:a16="http://schemas.microsoft.com/office/drawing/2014/main" id="{900FF45D-4AC3-49E8-9111-8A412C8F7A52}"/>
              </a:ext>
            </a:extLst>
          </p:cNvPr>
          <p:cNvSpPr>
            <a:spLocks noGrp="1"/>
          </p:cNvSpPr>
          <p:nvPr>
            <p:ph idx="1"/>
          </p:nvPr>
        </p:nvSpPr>
        <p:spPr>
          <a:xfrm>
            <a:off x="3079376" y="1425388"/>
            <a:ext cx="6010835" cy="524437"/>
          </a:xfrm>
          <a:solidFill>
            <a:schemeClr val="accent2">
              <a:lumMod val="75000"/>
            </a:schemeClr>
          </a:solidFill>
        </p:spPr>
        <p:txBody>
          <a:bodyPr/>
          <a:lstStyle/>
          <a:p>
            <a:pPr marL="0" indent="0" algn="ctr">
              <a:buNone/>
            </a:pPr>
            <a:r>
              <a:rPr lang="nn-NO" b="1" dirty="0">
                <a:solidFill>
                  <a:schemeClr val="bg1"/>
                </a:solidFill>
              </a:rPr>
              <a:t>file_variable = open(filename, mode)</a:t>
            </a:r>
            <a:endParaRPr lang="en-US" b="1" dirty="0">
              <a:solidFill>
                <a:schemeClr val="bg1"/>
              </a:solidFill>
            </a:endParaRPr>
          </a:p>
        </p:txBody>
      </p:sp>
      <p:sp>
        <p:nvSpPr>
          <p:cNvPr id="4" name="Rectangle 3">
            <a:extLst>
              <a:ext uri="{FF2B5EF4-FFF2-40B4-BE49-F238E27FC236}">
                <a16:creationId xmlns:a16="http://schemas.microsoft.com/office/drawing/2014/main" id="{6DD12A07-CAC5-4CA8-A635-D609DC3DBA12}"/>
              </a:ext>
            </a:extLst>
          </p:cNvPr>
          <p:cNvSpPr/>
          <p:nvPr/>
        </p:nvSpPr>
        <p:spPr>
          <a:xfrm>
            <a:off x="3079376" y="2107013"/>
            <a:ext cx="5257800" cy="2031325"/>
          </a:xfrm>
          <a:prstGeom prst="rect">
            <a:avLst/>
          </a:prstGeom>
        </p:spPr>
        <p:txBody>
          <a:bodyPr wrap="square">
            <a:spAutoFit/>
          </a:bodyPr>
          <a:lstStyle/>
          <a:p>
            <a:r>
              <a:rPr lang="en-US" dirty="0"/>
              <a:t>• </a:t>
            </a:r>
            <a:r>
              <a:rPr lang="en-US" dirty="0" err="1"/>
              <a:t>file_variable</a:t>
            </a:r>
            <a:r>
              <a:rPr lang="en-US" dirty="0"/>
              <a:t> is the name of the variable that will reference the file object.</a:t>
            </a:r>
          </a:p>
          <a:p>
            <a:r>
              <a:rPr lang="en-US" dirty="0"/>
              <a:t>• filename is a string specifying the name of the file.</a:t>
            </a:r>
          </a:p>
          <a:p>
            <a:r>
              <a:rPr lang="en-US" dirty="0"/>
              <a:t>• mode is a string specifying the mode (reading, writing, etc.) in which the file will be </a:t>
            </a:r>
          </a:p>
          <a:p>
            <a:r>
              <a:rPr lang="en-US" dirty="0"/>
              <a:t>opened. </a:t>
            </a:r>
          </a:p>
        </p:txBody>
      </p:sp>
      <p:pic>
        <p:nvPicPr>
          <p:cNvPr id="5" name="Picture 4">
            <a:extLst>
              <a:ext uri="{FF2B5EF4-FFF2-40B4-BE49-F238E27FC236}">
                <a16:creationId xmlns:a16="http://schemas.microsoft.com/office/drawing/2014/main" id="{F7EE3067-A28B-460C-98A8-D27B7E24F64F}"/>
              </a:ext>
            </a:extLst>
          </p:cNvPr>
          <p:cNvPicPr>
            <a:picLocks noChangeAspect="1"/>
          </p:cNvPicPr>
          <p:nvPr/>
        </p:nvPicPr>
        <p:blipFill rotWithShape="1">
          <a:blip r:embed="rId2"/>
          <a:srcRect l="1366" t="6929" r="2858" b="8252"/>
          <a:stretch/>
        </p:blipFill>
        <p:spPr>
          <a:xfrm>
            <a:off x="1909482" y="4138338"/>
            <a:ext cx="8984703" cy="2343144"/>
          </a:xfrm>
          <a:prstGeom prst="rect">
            <a:avLst/>
          </a:prstGeom>
        </p:spPr>
      </p:pic>
      <p:sp>
        <p:nvSpPr>
          <p:cNvPr id="6" name="Rectangle 5">
            <a:extLst>
              <a:ext uri="{FF2B5EF4-FFF2-40B4-BE49-F238E27FC236}">
                <a16:creationId xmlns:a16="http://schemas.microsoft.com/office/drawing/2014/main" id="{004EEDE4-6276-4BED-A39F-155FC079D3A5}"/>
              </a:ext>
            </a:extLst>
          </p:cNvPr>
          <p:cNvSpPr/>
          <p:nvPr/>
        </p:nvSpPr>
        <p:spPr>
          <a:xfrm>
            <a:off x="6819397" y="4110860"/>
            <a:ext cx="5059398" cy="400110"/>
          </a:xfrm>
          <a:prstGeom prst="rect">
            <a:avLst/>
          </a:prstGeom>
          <a:solidFill>
            <a:schemeClr val="accent3">
              <a:lumMod val="40000"/>
              <a:lumOff val="60000"/>
            </a:schemeClr>
          </a:solidFill>
        </p:spPr>
        <p:txBody>
          <a:bodyPr wrap="none">
            <a:spAutoFit/>
          </a:bodyPr>
          <a:lstStyle/>
          <a:p>
            <a:r>
              <a:rPr lang="en-US" sz="2000" b="1" dirty="0" err="1"/>
              <a:t>customer_file</a:t>
            </a:r>
            <a:r>
              <a:rPr lang="en-US" sz="2000" b="1" dirty="0"/>
              <a:t> = open('customers.txt', 'r')</a:t>
            </a:r>
          </a:p>
        </p:txBody>
      </p:sp>
    </p:spTree>
    <p:extLst>
      <p:ext uri="{BB962C8B-B14F-4D97-AF65-F5344CB8AC3E}">
        <p14:creationId xmlns:p14="http://schemas.microsoft.com/office/powerpoint/2010/main" val="3294810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989A41-9F84-4EF4-BA2E-766E4A488D8B}"/>
              </a:ext>
            </a:extLst>
          </p:cNvPr>
          <p:cNvSpPr/>
          <p:nvPr/>
        </p:nvSpPr>
        <p:spPr>
          <a:xfrm>
            <a:off x="264459" y="163703"/>
            <a:ext cx="4549588" cy="3970318"/>
          </a:xfrm>
          <a:prstGeom prst="rect">
            <a:avLst/>
          </a:prstGeom>
          <a:solidFill>
            <a:schemeClr val="accent6">
              <a:lumMod val="20000"/>
              <a:lumOff val="80000"/>
            </a:schemeClr>
          </a:solidFill>
        </p:spPr>
        <p:txBody>
          <a:bodyPr wrap="square">
            <a:spAutoFit/>
          </a:bodyPr>
          <a:lstStyle/>
          <a:p>
            <a:r>
              <a:rPr lang="en-US" sz="1400" dirty="0"/>
              <a:t># This program writes three lines of data</a:t>
            </a:r>
          </a:p>
          <a:p>
            <a:r>
              <a:rPr lang="en-US" sz="1400" dirty="0"/>
              <a:t># to a file.</a:t>
            </a:r>
          </a:p>
          <a:p>
            <a:r>
              <a:rPr lang="en-US" sz="1400" dirty="0"/>
              <a:t>def main():</a:t>
            </a:r>
          </a:p>
          <a:p>
            <a:r>
              <a:rPr lang="en-US" sz="1400" dirty="0"/>
              <a:t>    # Open a file named emmanavi.txt.</a:t>
            </a:r>
          </a:p>
          <a:p>
            <a:r>
              <a:rPr lang="en-US" sz="1400" dirty="0"/>
              <a:t>    </a:t>
            </a:r>
            <a:r>
              <a:rPr lang="en-US" sz="1400" dirty="0" err="1"/>
              <a:t>outfile</a:t>
            </a:r>
            <a:r>
              <a:rPr lang="en-US" sz="1400" dirty="0"/>
              <a:t> = open('emmanavi.txt', 'w')</a:t>
            </a:r>
          </a:p>
          <a:p>
            <a:endParaRPr lang="en-US" sz="1400" dirty="0"/>
          </a:p>
          <a:p>
            <a:r>
              <a:rPr lang="en-US" sz="1400" dirty="0"/>
              <a:t>    # Write the names of three</a:t>
            </a:r>
          </a:p>
          <a:p>
            <a:r>
              <a:rPr lang="en-US" sz="1400" dirty="0"/>
              <a:t>    # to the file.</a:t>
            </a:r>
          </a:p>
          <a:p>
            <a:r>
              <a:rPr lang="en-US" sz="1400" dirty="0"/>
              <a:t>    </a:t>
            </a:r>
            <a:r>
              <a:rPr lang="en-US" sz="1400" dirty="0" err="1"/>
              <a:t>outfile.write</a:t>
            </a:r>
            <a:r>
              <a:rPr lang="en-US" sz="1400" dirty="0"/>
              <a:t>('Emmanuel Das\n')</a:t>
            </a:r>
          </a:p>
          <a:p>
            <a:r>
              <a:rPr lang="en-US" sz="1400" dirty="0"/>
              <a:t>    </a:t>
            </a:r>
            <a:r>
              <a:rPr lang="en-US" sz="1400" dirty="0" err="1"/>
              <a:t>outfile.write</a:t>
            </a:r>
            <a:r>
              <a:rPr lang="en-US" sz="1400" dirty="0"/>
              <a:t>('Navitha\n')</a:t>
            </a:r>
          </a:p>
          <a:p>
            <a:r>
              <a:rPr lang="en-US" sz="1400" dirty="0"/>
              <a:t>    </a:t>
            </a:r>
            <a:r>
              <a:rPr lang="en-US" sz="1400" dirty="0" err="1"/>
              <a:t>outfile.write</a:t>
            </a:r>
            <a:r>
              <a:rPr lang="en-US" sz="1400" dirty="0"/>
              <a:t>('Love Programming\n')</a:t>
            </a:r>
          </a:p>
          <a:p>
            <a:endParaRPr lang="en-US" sz="1400" dirty="0"/>
          </a:p>
          <a:p>
            <a:r>
              <a:rPr lang="en-US" sz="1400" dirty="0"/>
              <a:t>    # Close the file.</a:t>
            </a:r>
          </a:p>
          <a:p>
            <a:r>
              <a:rPr lang="en-US" sz="1400" dirty="0"/>
              <a:t>    </a:t>
            </a:r>
            <a:r>
              <a:rPr lang="en-US" sz="1400" dirty="0" err="1"/>
              <a:t>outfile.close</a:t>
            </a:r>
            <a:r>
              <a:rPr lang="en-US" sz="1400" dirty="0"/>
              <a:t>()</a:t>
            </a:r>
          </a:p>
          <a:p>
            <a:endParaRPr lang="en-US" sz="1400" dirty="0"/>
          </a:p>
          <a:p>
            <a:r>
              <a:rPr lang="en-US" sz="1400" dirty="0"/>
              <a:t># Call the main function.</a:t>
            </a:r>
          </a:p>
          <a:p>
            <a:r>
              <a:rPr lang="en-US" sz="1400" dirty="0"/>
              <a:t>if __name__ == '__main__':</a:t>
            </a:r>
          </a:p>
          <a:p>
            <a:r>
              <a:rPr lang="en-US" sz="1400" dirty="0"/>
              <a:t>    main()</a:t>
            </a:r>
          </a:p>
        </p:txBody>
      </p:sp>
      <p:pic>
        <p:nvPicPr>
          <p:cNvPr id="5" name="Picture 4">
            <a:extLst>
              <a:ext uri="{FF2B5EF4-FFF2-40B4-BE49-F238E27FC236}">
                <a16:creationId xmlns:a16="http://schemas.microsoft.com/office/drawing/2014/main" id="{C85F6033-70C7-4172-8DD3-927E271F2E99}"/>
              </a:ext>
            </a:extLst>
          </p:cNvPr>
          <p:cNvPicPr>
            <a:picLocks noChangeAspect="1"/>
          </p:cNvPicPr>
          <p:nvPr/>
        </p:nvPicPr>
        <p:blipFill>
          <a:blip r:embed="rId2"/>
          <a:stretch>
            <a:fillRect/>
          </a:stretch>
        </p:blipFill>
        <p:spPr>
          <a:xfrm>
            <a:off x="103559" y="2414677"/>
            <a:ext cx="8085700" cy="4279620"/>
          </a:xfrm>
          <a:prstGeom prst="rect">
            <a:avLst/>
          </a:prstGeom>
        </p:spPr>
      </p:pic>
      <p:sp>
        <p:nvSpPr>
          <p:cNvPr id="6" name="Rectangle 5">
            <a:extLst>
              <a:ext uri="{FF2B5EF4-FFF2-40B4-BE49-F238E27FC236}">
                <a16:creationId xmlns:a16="http://schemas.microsoft.com/office/drawing/2014/main" id="{F10B18C1-B7FF-4ABA-B36E-28EC338A3727}"/>
              </a:ext>
            </a:extLst>
          </p:cNvPr>
          <p:cNvSpPr/>
          <p:nvPr/>
        </p:nvSpPr>
        <p:spPr>
          <a:xfrm>
            <a:off x="5364912" y="163703"/>
            <a:ext cx="5244818" cy="4647426"/>
          </a:xfrm>
          <a:prstGeom prst="rect">
            <a:avLst/>
          </a:prstGeom>
          <a:solidFill>
            <a:schemeClr val="accent3">
              <a:lumMod val="20000"/>
              <a:lumOff val="80000"/>
            </a:schemeClr>
          </a:solidFill>
        </p:spPr>
        <p:txBody>
          <a:bodyPr wrap="square">
            <a:spAutoFit/>
          </a:bodyPr>
          <a:lstStyle/>
          <a:p>
            <a:r>
              <a:rPr lang="en-US" sz="1600" dirty="0"/>
              <a:t># This program reads and displays the contents</a:t>
            </a:r>
          </a:p>
          <a:p>
            <a:r>
              <a:rPr lang="en-US" sz="1600" dirty="0"/>
              <a:t># of the emmanavi.txt file.</a:t>
            </a:r>
          </a:p>
          <a:p>
            <a:r>
              <a:rPr lang="en-US" sz="1600" dirty="0"/>
              <a:t>def main():</a:t>
            </a:r>
          </a:p>
          <a:p>
            <a:r>
              <a:rPr lang="en-US" sz="1600" dirty="0"/>
              <a:t>    # Open a file named emmanavi.txt.</a:t>
            </a:r>
          </a:p>
          <a:p>
            <a:r>
              <a:rPr lang="en-US" sz="1600" dirty="0"/>
              <a:t>    </a:t>
            </a:r>
            <a:r>
              <a:rPr lang="en-US" sz="1600" dirty="0" err="1"/>
              <a:t>infile</a:t>
            </a:r>
            <a:r>
              <a:rPr lang="en-US" sz="1600" dirty="0"/>
              <a:t> = open('emmanavi.txt', 'r')</a:t>
            </a:r>
          </a:p>
          <a:p>
            <a:endParaRPr lang="en-US" sz="1600" dirty="0"/>
          </a:p>
          <a:p>
            <a:r>
              <a:rPr lang="en-US" sz="1600" dirty="0"/>
              <a:t>    # Read the file's contents.</a:t>
            </a:r>
          </a:p>
          <a:p>
            <a:r>
              <a:rPr lang="en-US" sz="1600" dirty="0"/>
              <a:t>    </a:t>
            </a:r>
            <a:r>
              <a:rPr lang="en-US" sz="1600" dirty="0" err="1"/>
              <a:t>file_contents</a:t>
            </a:r>
            <a:r>
              <a:rPr lang="en-US" sz="1600" dirty="0"/>
              <a:t> = </a:t>
            </a:r>
            <a:r>
              <a:rPr lang="en-US" sz="1600" dirty="0" err="1"/>
              <a:t>infile.read</a:t>
            </a:r>
            <a:r>
              <a:rPr lang="en-US" sz="1600" dirty="0"/>
              <a:t>()</a:t>
            </a:r>
          </a:p>
          <a:p>
            <a:endParaRPr lang="en-US" sz="1600" dirty="0"/>
          </a:p>
          <a:p>
            <a:r>
              <a:rPr lang="en-US" sz="1600" dirty="0"/>
              <a:t>    # Close the file.</a:t>
            </a:r>
          </a:p>
          <a:p>
            <a:r>
              <a:rPr lang="en-US" sz="1600" dirty="0"/>
              <a:t>    </a:t>
            </a:r>
            <a:r>
              <a:rPr lang="en-US" sz="1600" dirty="0" err="1"/>
              <a:t>infile.close</a:t>
            </a:r>
            <a:r>
              <a:rPr lang="en-US" sz="1600" dirty="0"/>
              <a:t>()</a:t>
            </a:r>
          </a:p>
          <a:p>
            <a:endParaRPr lang="en-US" sz="1600" dirty="0"/>
          </a:p>
          <a:p>
            <a:r>
              <a:rPr lang="en-US" sz="1600" dirty="0"/>
              <a:t>    # Print the data that was read into memory.</a:t>
            </a:r>
          </a:p>
          <a:p>
            <a:r>
              <a:rPr lang="en-US" sz="1600" dirty="0"/>
              <a:t>    print(</a:t>
            </a:r>
            <a:r>
              <a:rPr lang="en-US" sz="1600" dirty="0" err="1"/>
              <a:t>file_contents</a:t>
            </a:r>
            <a:r>
              <a:rPr lang="en-US" sz="1600" dirty="0"/>
              <a:t>)</a:t>
            </a:r>
          </a:p>
          <a:p>
            <a:endParaRPr lang="en-US" sz="1600" dirty="0"/>
          </a:p>
          <a:p>
            <a:r>
              <a:rPr lang="en-US" sz="1600" dirty="0"/>
              <a:t># Call the main function.</a:t>
            </a:r>
          </a:p>
          <a:p>
            <a:r>
              <a:rPr lang="en-US" sz="1600" dirty="0"/>
              <a:t>if __name__ == '__main__':</a:t>
            </a:r>
          </a:p>
          <a:p>
            <a:r>
              <a:rPr lang="en-US" sz="1600" dirty="0"/>
              <a:t>    main()</a:t>
            </a:r>
          </a:p>
        </p:txBody>
      </p:sp>
      <p:pic>
        <p:nvPicPr>
          <p:cNvPr id="7" name="Picture 6">
            <a:extLst>
              <a:ext uri="{FF2B5EF4-FFF2-40B4-BE49-F238E27FC236}">
                <a16:creationId xmlns:a16="http://schemas.microsoft.com/office/drawing/2014/main" id="{CCAE4EB1-BC68-4227-9A5B-EF670A898CDC}"/>
              </a:ext>
            </a:extLst>
          </p:cNvPr>
          <p:cNvPicPr>
            <a:picLocks noChangeAspect="1"/>
          </p:cNvPicPr>
          <p:nvPr/>
        </p:nvPicPr>
        <p:blipFill>
          <a:blip r:embed="rId3"/>
          <a:stretch>
            <a:fillRect/>
          </a:stretch>
        </p:blipFill>
        <p:spPr>
          <a:xfrm>
            <a:off x="7161494" y="4957555"/>
            <a:ext cx="4380661" cy="1349116"/>
          </a:xfrm>
          <a:prstGeom prst="rect">
            <a:avLst/>
          </a:prstGeom>
        </p:spPr>
      </p:pic>
    </p:spTree>
    <p:extLst>
      <p:ext uri="{BB962C8B-B14F-4D97-AF65-F5344CB8AC3E}">
        <p14:creationId xmlns:p14="http://schemas.microsoft.com/office/powerpoint/2010/main" val="3968257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heel(1)">
                                      <p:cBhvr>
                                        <p:cTn id="14" dur="20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randombar(horizontal)">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11722-E693-41EE-B7CF-4AA61673CAF1}"/>
              </a:ext>
            </a:extLst>
          </p:cNvPr>
          <p:cNvSpPr>
            <a:spLocks noGrp="1"/>
          </p:cNvSpPr>
          <p:nvPr>
            <p:ph type="title"/>
          </p:nvPr>
        </p:nvSpPr>
        <p:spPr>
          <a:xfrm>
            <a:off x="3137648" y="101238"/>
            <a:ext cx="8610600" cy="954741"/>
          </a:xfrm>
          <a:solidFill>
            <a:schemeClr val="tx2">
              <a:lumMod val="20000"/>
              <a:lumOff val="80000"/>
            </a:schemeClr>
          </a:solidFill>
        </p:spPr>
        <p:txBody>
          <a:bodyPr/>
          <a:lstStyle/>
          <a:p>
            <a:pPr algn="ctr"/>
            <a:r>
              <a:rPr lang="en-US" b="1" dirty="0"/>
              <a:t>Using Loops to Process Files</a:t>
            </a:r>
          </a:p>
        </p:txBody>
      </p:sp>
      <p:sp>
        <p:nvSpPr>
          <p:cNvPr id="3" name="Content Placeholder 2">
            <a:extLst>
              <a:ext uri="{FF2B5EF4-FFF2-40B4-BE49-F238E27FC236}">
                <a16:creationId xmlns:a16="http://schemas.microsoft.com/office/drawing/2014/main" id="{CB9FBE49-9FDF-46BE-A72A-5CBBB1ECDAF5}"/>
              </a:ext>
            </a:extLst>
          </p:cNvPr>
          <p:cNvSpPr>
            <a:spLocks noGrp="1"/>
          </p:cNvSpPr>
          <p:nvPr>
            <p:ph idx="1"/>
          </p:nvPr>
        </p:nvSpPr>
        <p:spPr>
          <a:xfrm>
            <a:off x="322728" y="1669826"/>
            <a:ext cx="5056096" cy="1140610"/>
          </a:xfrm>
        </p:spPr>
        <p:txBody>
          <a:bodyPr>
            <a:normAutofit fontScale="70000" lnSpcReduction="20000"/>
          </a:bodyPr>
          <a:lstStyle/>
          <a:p>
            <a:pPr>
              <a:lnSpc>
                <a:spcPct val="170000"/>
              </a:lnSpc>
            </a:pPr>
            <a:r>
              <a:rPr lang="en-US" dirty="0"/>
              <a:t>Files usually hold large amounts of data, and programs typically use a loop to process the data in a file.</a:t>
            </a:r>
          </a:p>
        </p:txBody>
      </p:sp>
      <p:sp>
        <p:nvSpPr>
          <p:cNvPr id="4" name="Rectangle 3">
            <a:extLst>
              <a:ext uri="{FF2B5EF4-FFF2-40B4-BE49-F238E27FC236}">
                <a16:creationId xmlns:a16="http://schemas.microsoft.com/office/drawing/2014/main" id="{AE5D00F6-C09F-434B-BC48-57DB19C9FED5}"/>
              </a:ext>
            </a:extLst>
          </p:cNvPr>
          <p:cNvSpPr/>
          <p:nvPr/>
        </p:nvSpPr>
        <p:spPr>
          <a:xfrm>
            <a:off x="5593976" y="861669"/>
            <a:ext cx="5719481" cy="5909310"/>
          </a:xfrm>
          <a:prstGeom prst="rect">
            <a:avLst/>
          </a:prstGeom>
          <a:solidFill>
            <a:schemeClr val="accent4">
              <a:lumMod val="40000"/>
              <a:lumOff val="60000"/>
            </a:schemeClr>
          </a:solidFill>
        </p:spPr>
        <p:txBody>
          <a:bodyPr wrap="square">
            <a:spAutoFit/>
          </a:bodyPr>
          <a:lstStyle/>
          <a:p>
            <a:r>
              <a:rPr lang="en-US" sz="1400" b="1" dirty="0"/>
              <a:t># This program prompts the user for sales amounts</a:t>
            </a:r>
          </a:p>
          <a:p>
            <a:r>
              <a:rPr lang="en-US" sz="1400" b="1" dirty="0"/>
              <a:t># and writes those amounts to the sales.txt file.</a:t>
            </a:r>
          </a:p>
          <a:p>
            <a:endParaRPr lang="en-US" sz="1400" b="1" dirty="0"/>
          </a:p>
          <a:p>
            <a:r>
              <a:rPr lang="en-US" sz="1400" b="1" dirty="0"/>
              <a:t>def main():</a:t>
            </a:r>
          </a:p>
          <a:p>
            <a:r>
              <a:rPr lang="en-US" sz="1400" b="1" dirty="0"/>
              <a:t>    # Get the number of days.</a:t>
            </a:r>
          </a:p>
          <a:p>
            <a:r>
              <a:rPr lang="en-US" sz="1400" b="1" dirty="0"/>
              <a:t>    </a:t>
            </a:r>
            <a:r>
              <a:rPr lang="en-US" sz="1400" b="1" dirty="0" err="1"/>
              <a:t>num_days</a:t>
            </a:r>
            <a:r>
              <a:rPr lang="en-US" sz="1400" b="1" dirty="0"/>
              <a:t> = int(input('For how many days do you have sales? '))</a:t>
            </a:r>
          </a:p>
          <a:p>
            <a:endParaRPr lang="en-US" sz="1400" b="1" dirty="0"/>
          </a:p>
          <a:p>
            <a:r>
              <a:rPr lang="en-US" sz="1400" b="1" dirty="0"/>
              <a:t>    # Open a new file named sales.txt.</a:t>
            </a:r>
          </a:p>
          <a:p>
            <a:r>
              <a:rPr lang="en-US" sz="1400" b="1" dirty="0"/>
              <a:t>    </a:t>
            </a:r>
            <a:r>
              <a:rPr lang="en-US" sz="1400" b="1" dirty="0" err="1"/>
              <a:t>sales_file</a:t>
            </a:r>
            <a:r>
              <a:rPr lang="en-US" sz="1400" b="1" dirty="0"/>
              <a:t> = open('sales.txt', 'w')</a:t>
            </a:r>
          </a:p>
          <a:p>
            <a:endParaRPr lang="en-US" sz="1400" b="1" dirty="0"/>
          </a:p>
          <a:p>
            <a:r>
              <a:rPr lang="en-US" sz="1400" b="1" dirty="0"/>
              <a:t>    # Get the amount of sales for each day and write</a:t>
            </a:r>
          </a:p>
          <a:p>
            <a:r>
              <a:rPr lang="en-US" sz="1400" b="1" dirty="0"/>
              <a:t>    # it to the file.</a:t>
            </a:r>
          </a:p>
          <a:p>
            <a:r>
              <a:rPr lang="en-US" sz="1400" b="1" dirty="0"/>
              <a:t>    for count in range(1, </a:t>
            </a:r>
            <a:r>
              <a:rPr lang="en-US" sz="1400" b="1" dirty="0" err="1"/>
              <a:t>num_days</a:t>
            </a:r>
            <a:r>
              <a:rPr lang="en-US" sz="1400" b="1" dirty="0"/>
              <a:t> + 1):</a:t>
            </a:r>
          </a:p>
          <a:p>
            <a:r>
              <a:rPr lang="en-US" sz="1400" b="1" dirty="0"/>
              <a:t>        # Get the sales for a day.</a:t>
            </a:r>
          </a:p>
          <a:p>
            <a:r>
              <a:rPr lang="en-US" sz="1400" b="1" dirty="0"/>
              <a:t>        sales = float(input(</a:t>
            </a:r>
            <a:r>
              <a:rPr lang="en-US" sz="1400" b="1" dirty="0" err="1"/>
              <a:t>f'Enter</a:t>
            </a:r>
            <a:r>
              <a:rPr lang="en-US" sz="1400" b="1" dirty="0"/>
              <a:t> the sales for day #{count}: '))</a:t>
            </a:r>
          </a:p>
          <a:p>
            <a:endParaRPr lang="en-US" sz="1400" b="1" dirty="0"/>
          </a:p>
          <a:p>
            <a:r>
              <a:rPr lang="en-US" sz="1400" b="1" dirty="0"/>
              <a:t>        # Write the sales amount to the file.</a:t>
            </a:r>
          </a:p>
          <a:p>
            <a:r>
              <a:rPr lang="en-US" sz="1400" b="1" dirty="0"/>
              <a:t>        </a:t>
            </a:r>
            <a:r>
              <a:rPr lang="en-US" sz="1400" b="1" dirty="0" err="1"/>
              <a:t>sales_file.write</a:t>
            </a:r>
            <a:r>
              <a:rPr lang="en-US" sz="1400" b="1" dirty="0"/>
              <a:t>(f'{sales}\n')</a:t>
            </a:r>
          </a:p>
          <a:p>
            <a:endParaRPr lang="en-US" sz="1400" b="1" dirty="0"/>
          </a:p>
          <a:p>
            <a:r>
              <a:rPr lang="en-US" sz="1400" b="1" dirty="0"/>
              <a:t>    # Close the file.</a:t>
            </a:r>
          </a:p>
          <a:p>
            <a:r>
              <a:rPr lang="en-US" sz="1400" b="1" dirty="0"/>
              <a:t>    </a:t>
            </a:r>
            <a:r>
              <a:rPr lang="en-US" sz="1400" b="1" dirty="0" err="1"/>
              <a:t>sales_file.close</a:t>
            </a:r>
            <a:r>
              <a:rPr lang="en-US" sz="1400" b="1" dirty="0"/>
              <a:t>()</a:t>
            </a:r>
          </a:p>
          <a:p>
            <a:r>
              <a:rPr lang="en-US" sz="1400" b="1" dirty="0"/>
              <a:t>    print('Data written to sales.txt.')</a:t>
            </a:r>
          </a:p>
          <a:p>
            <a:endParaRPr lang="en-US" sz="1400" b="1" dirty="0"/>
          </a:p>
          <a:p>
            <a:r>
              <a:rPr lang="en-US" sz="1400" b="1" dirty="0"/>
              <a:t># Call the main function.</a:t>
            </a:r>
          </a:p>
          <a:p>
            <a:r>
              <a:rPr lang="en-US" sz="1400" b="1" dirty="0"/>
              <a:t>if __name__ == '__main__':</a:t>
            </a:r>
          </a:p>
          <a:p>
            <a:r>
              <a:rPr lang="en-US" sz="1400" b="1" dirty="0"/>
              <a:t>    main()</a:t>
            </a:r>
          </a:p>
        </p:txBody>
      </p:sp>
      <p:pic>
        <p:nvPicPr>
          <p:cNvPr id="5" name="Picture 4">
            <a:extLst>
              <a:ext uri="{FF2B5EF4-FFF2-40B4-BE49-F238E27FC236}">
                <a16:creationId xmlns:a16="http://schemas.microsoft.com/office/drawing/2014/main" id="{C5F2C6FB-E045-4226-926A-F64A4D3A28E5}"/>
              </a:ext>
            </a:extLst>
          </p:cNvPr>
          <p:cNvPicPr>
            <a:picLocks noChangeAspect="1"/>
          </p:cNvPicPr>
          <p:nvPr/>
        </p:nvPicPr>
        <p:blipFill rotWithShape="1">
          <a:blip r:embed="rId2"/>
          <a:srcRect b="9499"/>
          <a:stretch/>
        </p:blipFill>
        <p:spPr>
          <a:xfrm>
            <a:off x="502734" y="3429000"/>
            <a:ext cx="4768513" cy="2151529"/>
          </a:xfrm>
          <a:prstGeom prst="rect">
            <a:avLst/>
          </a:prstGeom>
        </p:spPr>
      </p:pic>
    </p:spTree>
    <p:extLst>
      <p:ext uri="{BB962C8B-B14F-4D97-AF65-F5344CB8AC3E}">
        <p14:creationId xmlns:p14="http://schemas.microsoft.com/office/powerpoint/2010/main" val="27991315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FFB30E8-C2E9-4E69-AFD4-667704FB7902}"/>
              </a:ext>
            </a:extLst>
          </p:cNvPr>
          <p:cNvSpPr/>
          <p:nvPr/>
        </p:nvSpPr>
        <p:spPr>
          <a:xfrm>
            <a:off x="506506" y="258901"/>
            <a:ext cx="6096000" cy="6340197"/>
          </a:xfrm>
          <a:prstGeom prst="rect">
            <a:avLst/>
          </a:prstGeom>
          <a:solidFill>
            <a:schemeClr val="accent1">
              <a:lumMod val="20000"/>
              <a:lumOff val="80000"/>
            </a:schemeClr>
          </a:solidFill>
        </p:spPr>
        <p:txBody>
          <a:bodyPr>
            <a:spAutoFit/>
          </a:bodyPr>
          <a:lstStyle/>
          <a:p>
            <a:r>
              <a:rPr lang="en-US" sz="1400" dirty="0"/>
              <a:t># This program reads all of the values in the sales.txt file.</a:t>
            </a:r>
          </a:p>
          <a:p>
            <a:endParaRPr lang="en-US" sz="1400" dirty="0"/>
          </a:p>
          <a:p>
            <a:r>
              <a:rPr lang="en-US" sz="1400" dirty="0"/>
              <a:t>def main():</a:t>
            </a:r>
          </a:p>
          <a:p>
            <a:r>
              <a:rPr lang="en-US" sz="1400" dirty="0"/>
              <a:t>    # Open the sales.txt file for reading.</a:t>
            </a:r>
          </a:p>
          <a:p>
            <a:r>
              <a:rPr lang="en-US" sz="1400" dirty="0"/>
              <a:t>    </a:t>
            </a:r>
            <a:r>
              <a:rPr lang="en-US" sz="1400" dirty="0" err="1"/>
              <a:t>sales_file</a:t>
            </a:r>
            <a:r>
              <a:rPr lang="en-US" sz="1400" dirty="0"/>
              <a:t> = open('sales.txt', 'r')</a:t>
            </a:r>
          </a:p>
          <a:p>
            <a:endParaRPr lang="en-US" sz="1400" dirty="0"/>
          </a:p>
          <a:p>
            <a:r>
              <a:rPr lang="en-US" sz="1400" dirty="0"/>
              <a:t>    # Read the first line from the file, but</a:t>
            </a:r>
          </a:p>
          <a:p>
            <a:r>
              <a:rPr lang="en-US" sz="1400" dirty="0"/>
              <a:t>    # don't convert to a number yet. We still</a:t>
            </a:r>
          </a:p>
          <a:p>
            <a:r>
              <a:rPr lang="en-US" sz="1400" dirty="0"/>
              <a:t>    # need to test for an empty string.</a:t>
            </a:r>
          </a:p>
          <a:p>
            <a:r>
              <a:rPr lang="en-US" sz="1400" dirty="0"/>
              <a:t>    line = </a:t>
            </a:r>
            <a:r>
              <a:rPr lang="en-US" sz="1400" dirty="0" err="1"/>
              <a:t>sales_file.readline</a:t>
            </a:r>
            <a:r>
              <a:rPr lang="en-US" sz="1400" dirty="0"/>
              <a:t>()</a:t>
            </a:r>
          </a:p>
          <a:p>
            <a:endParaRPr lang="en-US" sz="1400" dirty="0"/>
          </a:p>
          <a:p>
            <a:r>
              <a:rPr lang="en-US" sz="1400" dirty="0"/>
              <a:t>    # As long as an empty string is not returned</a:t>
            </a:r>
          </a:p>
          <a:p>
            <a:r>
              <a:rPr lang="en-US" sz="1400" dirty="0"/>
              <a:t>    # from </a:t>
            </a:r>
            <a:r>
              <a:rPr lang="en-US" sz="1400" dirty="0" err="1"/>
              <a:t>readline</a:t>
            </a:r>
            <a:r>
              <a:rPr lang="en-US" sz="1400" dirty="0"/>
              <a:t>, continue processing.</a:t>
            </a:r>
          </a:p>
          <a:p>
            <a:r>
              <a:rPr lang="en-US" sz="1400" dirty="0"/>
              <a:t>    while line != '':</a:t>
            </a:r>
          </a:p>
          <a:p>
            <a:r>
              <a:rPr lang="en-US" sz="1400" dirty="0"/>
              <a:t>        # Convert line to a float.</a:t>
            </a:r>
          </a:p>
          <a:p>
            <a:r>
              <a:rPr lang="en-US" sz="1400" dirty="0"/>
              <a:t>        amount = float(line)</a:t>
            </a:r>
          </a:p>
          <a:p>
            <a:endParaRPr lang="en-US" sz="1400" dirty="0"/>
          </a:p>
          <a:p>
            <a:r>
              <a:rPr lang="en-US" sz="1400" dirty="0"/>
              <a:t>        # Format and display the amount.</a:t>
            </a:r>
          </a:p>
          <a:p>
            <a:r>
              <a:rPr lang="en-US" sz="1400" dirty="0"/>
              <a:t>        print(f'{amount:.2f}')</a:t>
            </a:r>
          </a:p>
          <a:p>
            <a:endParaRPr lang="en-US" sz="1400" dirty="0"/>
          </a:p>
          <a:p>
            <a:r>
              <a:rPr lang="en-US" sz="1400" dirty="0"/>
              <a:t>        # Read the next line.</a:t>
            </a:r>
          </a:p>
          <a:p>
            <a:r>
              <a:rPr lang="en-US" sz="1400" dirty="0"/>
              <a:t>        line = </a:t>
            </a:r>
            <a:r>
              <a:rPr lang="en-US" sz="1400" dirty="0" err="1"/>
              <a:t>sales_file.readline</a:t>
            </a:r>
            <a:r>
              <a:rPr lang="en-US" sz="1400" dirty="0"/>
              <a:t>()</a:t>
            </a:r>
          </a:p>
          <a:p>
            <a:endParaRPr lang="en-US" sz="1400" dirty="0"/>
          </a:p>
          <a:p>
            <a:r>
              <a:rPr lang="en-US" sz="1400" dirty="0"/>
              <a:t>    # Close the file.</a:t>
            </a:r>
          </a:p>
          <a:p>
            <a:r>
              <a:rPr lang="en-US" sz="1400" dirty="0"/>
              <a:t>    </a:t>
            </a:r>
            <a:r>
              <a:rPr lang="en-US" sz="1400" dirty="0" err="1"/>
              <a:t>sales_file.close</a:t>
            </a:r>
            <a:r>
              <a:rPr lang="en-US" sz="1400" dirty="0"/>
              <a:t>()</a:t>
            </a:r>
          </a:p>
          <a:p>
            <a:endParaRPr lang="en-US" sz="1400" dirty="0"/>
          </a:p>
          <a:p>
            <a:r>
              <a:rPr lang="en-US" sz="1400" dirty="0"/>
              <a:t># Call the main function.</a:t>
            </a:r>
          </a:p>
          <a:p>
            <a:r>
              <a:rPr lang="en-US" sz="1400" dirty="0"/>
              <a:t>if __name__ == '__main__':</a:t>
            </a:r>
          </a:p>
          <a:p>
            <a:r>
              <a:rPr lang="en-US" sz="1400" dirty="0"/>
              <a:t>    main()</a:t>
            </a:r>
            <a:endParaRPr lang="en-US" dirty="0"/>
          </a:p>
        </p:txBody>
      </p:sp>
      <p:pic>
        <p:nvPicPr>
          <p:cNvPr id="5" name="Picture 4">
            <a:extLst>
              <a:ext uri="{FF2B5EF4-FFF2-40B4-BE49-F238E27FC236}">
                <a16:creationId xmlns:a16="http://schemas.microsoft.com/office/drawing/2014/main" id="{4E0D1C67-4FE5-41B3-B0AF-6539F628BC8F}"/>
              </a:ext>
            </a:extLst>
          </p:cNvPr>
          <p:cNvPicPr>
            <a:picLocks noChangeAspect="1"/>
          </p:cNvPicPr>
          <p:nvPr/>
        </p:nvPicPr>
        <p:blipFill>
          <a:blip r:embed="rId2"/>
          <a:stretch>
            <a:fillRect/>
          </a:stretch>
        </p:blipFill>
        <p:spPr>
          <a:xfrm>
            <a:off x="6252882" y="2919135"/>
            <a:ext cx="3980329" cy="1633590"/>
          </a:xfrm>
          <a:prstGeom prst="rect">
            <a:avLst/>
          </a:prstGeom>
        </p:spPr>
      </p:pic>
    </p:spTree>
    <p:extLst>
      <p:ext uri="{BB962C8B-B14F-4D97-AF65-F5344CB8AC3E}">
        <p14:creationId xmlns:p14="http://schemas.microsoft.com/office/powerpoint/2010/main" val="1874283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4FA0E-74C0-4F4F-BDF9-EFDC71D730D3}"/>
              </a:ext>
            </a:extLst>
          </p:cNvPr>
          <p:cNvSpPr>
            <a:spLocks noGrp="1"/>
          </p:cNvSpPr>
          <p:nvPr>
            <p:ph type="title"/>
          </p:nvPr>
        </p:nvSpPr>
        <p:spPr>
          <a:xfrm>
            <a:off x="1443317" y="414750"/>
            <a:ext cx="8610600" cy="1293028"/>
          </a:xfrm>
        </p:spPr>
        <p:txBody>
          <a:bodyPr/>
          <a:lstStyle/>
          <a:p>
            <a:pPr algn="ctr"/>
            <a:r>
              <a:rPr lang="en-US" b="1" dirty="0"/>
              <a:t>question</a:t>
            </a:r>
          </a:p>
        </p:txBody>
      </p:sp>
      <p:sp>
        <p:nvSpPr>
          <p:cNvPr id="3" name="Content Placeholder 2">
            <a:extLst>
              <a:ext uri="{FF2B5EF4-FFF2-40B4-BE49-F238E27FC236}">
                <a16:creationId xmlns:a16="http://schemas.microsoft.com/office/drawing/2014/main" id="{D4B568C4-17FD-411E-BA23-F3CD825BBBB7}"/>
              </a:ext>
            </a:extLst>
          </p:cNvPr>
          <p:cNvSpPr>
            <a:spLocks noGrp="1"/>
          </p:cNvSpPr>
          <p:nvPr>
            <p:ph idx="1"/>
          </p:nvPr>
        </p:nvSpPr>
        <p:spPr>
          <a:xfrm>
            <a:off x="685800" y="1416937"/>
            <a:ext cx="10394576" cy="4024125"/>
          </a:xfrm>
        </p:spPr>
        <p:txBody>
          <a:bodyPr>
            <a:normAutofit fontScale="92500"/>
          </a:bodyPr>
          <a:lstStyle/>
          <a:p>
            <a:pPr algn="just">
              <a:lnSpc>
                <a:spcPct val="150000"/>
              </a:lnSpc>
            </a:pPr>
            <a:r>
              <a:rPr lang="en-US" dirty="0">
                <a:latin typeface="Arial" panose="020B0604020202020204" pitchFamily="34" charset="0"/>
                <a:cs typeface="Arial" panose="020B0604020202020204" pitchFamily="34" charset="0"/>
              </a:rPr>
              <a:t>Kevin is a freelance video producer who makes TV commercials for local businesses. When he makes a commercial, he usually films several short videos. Later, he puts these short videos together to make the final commercial. He has asked you to write the following two programs. </a:t>
            </a:r>
          </a:p>
          <a:p>
            <a:pPr marL="457200" indent="-457200" algn="just">
              <a:lnSpc>
                <a:spcPct val="150000"/>
              </a:lnSpc>
              <a:buAutoNum type="arabicPeriod"/>
            </a:pPr>
            <a:r>
              <a:rPr lang="en-US" dirty="0">
                <a:latin typeface="Arial" panose="020B0604020202020204" pitchFamily="34" charset="0"/>
                <a:cs typeface="Arial" panose="020B0604020202020204" pitchFamily="34" charset="0"/>
              </a:rPr>
              <a:t>A program that allows him to enter the running time (in seconds) of each short video in a project. The running times are saved to a file. </a:t>
            </a:r>
          </a:p>
          <a:p>
            <a:pPr marL="457200" indent="-457200" algn="just">
              <a:lnSpc>
                <a:spcPct val="150000"/>
              </a:lnSpc>
              <a:buAutoNum type="arabicPeriod"/>
            </a:pPr>
            <a:r>
              <a:rPr lang="en-US" dirty="0">
                <a:latin typeface="Arial" panose="020B0604020202020204" pitchFamily="34" charset="0"/>
                <a:cs typeface="Arial" panose="020B0604020202020204" pitchFamily="34" charset="0"/>
              </a:rPr>
              <a:t>A program that reads the contents of the file, displays the running times, and then displays the total running time of all the segments.</a:t>
            </a:r>
          </a:p>
        </p:txBody>
      </p:sp>
      <p:sp>
        <p:nvSpPr>
          <p:cNvPr id="4" name="Rectangle 3">
            <a:extLst>
              <a:ext uri="{FF2B5EF4-FFF2-40B4-BE49-F238E27FC236}">
                <a16:creationId xmlns:a16="http://schemas.microsoft.com/office/drawing/2014/main" id="{48D6FF60-0C07-407D-AAF5-E4D6C137AC65}"/>
              </a:ext>
            </a:extLst>
          </p:cNvPr>
          <p:cNvSpPr/>
          <p:nvPr/>
        </p:nvSpPr>
        <p:spPr>
          <a:xfrm>
            <a:off x="7135906" y="4999202"/>
            <a:ext cx="4684059" cy="1754326"/>
          </a:xfrm>
          <a:prstGeom prst="rect">
            <a:avLst/>
          </a:prstGeom>
          <a:solidFill>
            <a:schemeClr val="accent6">
              <a:lumMod val="40000"/>
              <a:lumOff val="60000"/>
            </a:schemeClr>
          </a:solidFill>
        </p:spPr>
        <p:txBody>
          <a:bodyPr wrap="square">
            <a:spAutoFit/>
          </a:bodyPr>
          <a:lstStyle/>
          <a:p>
            <a:r>
              <a:rPr lang="en-US" i="1" dirty="0"/>
              <a:t>Get the number of videos in the project.</a:t>
            </a:r>
          </a:p>
          <a:p>
            <a:r>
              <a:rPr lang="en-US" i="1" dirty="0"/>
              <a:t>Open an output file.</a:t>
            </a:r>
          </a:p>
          <a:p>
            <a:r>
              <a:rPr lang="en-US" i="1" dirty="0"/>
              <a:t>For each video in the project:</a:t>
            </a:r>
          </a:p>
          <a:p>
            <a:r>
              <a:rPr lang="en-US" i="1" dirty="0"/>
              <a:t> Get the video's running time.</a:t>
            </a:r>
          </a:p>
          <a:p>
            <a:r>
              <a:rPr lang="en-US" i="1" dirty="0"/>
              <a:t> Write the running time to the file.</a:t>
            </a:r>
          </a:p>
          <a:p>
            <a:r>
              <a:rPr lang="en-US" i="1" dirty="0"/>
              <a:t>Close the file.</a:t>
            </a:r>
          </a:p>
        </p:txBody>
      </p:sp>
    </p:spTree>
    <p:extLst>
      <p:ext uri="{BB962C8B-B14F-4D97-AF65-F5344CB8AC3E}">
        <p14:creationId xmlns:p14="http://schemas.microsoft.com/office/powerpoint/2010/main" val="10956947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E71BC-A843-41BB-BA78-7BAD8803B3CB}"/>
              </a:ext>
            </a:extLst>
          </p:cNvPr>
          <p:cNvSpPr>
            <a:spLocks noGrp="1"/>
          </p:cNvSpPr>
          <p:nvPr>
            <p:ph type="title"/>
          </p:nvPr>
        </p:nvSpPr>
        <p:spPr>
          <a:xfrm>
            <a:off x="2693895" y="374408"/>
            <a:ext cx="8610600" cy="876168"/>
          </a:xfrm>
        </p:spPr>
        <p:txBody>
          <a:bodyPr/>
          <a:lstStyle/>
          <a:p>
            <a:r>
              <a:rPr lang="en-US" b="1" dirty="0"/>
              <a:t>Processing Records</a:t>
            </a:r>
          </a:p>
        </p:txBody>
      </p:sp>
      <p:sp>
        <p:nvSpPr>
          <p:cNvPr id="3" name="Content Placeholder 2">
            <a:extLst>
              <a:ext uri="{FF2B5EF4-FFF2-40B4-BE49-F238E27FC236}">
                <a16:creationId xmlns:a16="http://schemas.microsoft.com/office/drawing/2014/main" id="{23969C9A-9AB8-4847-BA34-38DB2A938284}"/>
              </a:ext>
            </a:extLst>
          </p:cNvPr>
          <p:cNvSpPr>
            <a:spLocks noGrp="1"/>
          </p:cNvSpPr>
          <p:nvPr>
            <p:ph idx="1"/>
          </p:nvPr>
        </p:nvSpPr>
        <p:spPr>
          <a:xfrm>
            <a:off x="2363908" y="1344204"/>
            <a:ext cx="8323729" cy="1272475"/>
          </a:xfrm>
        </p:spPr>
        <p:txBody>
          <a:bodyPr>
            <a:normAutofit fontScale="92500" lnSpcReduction="20000"/>
          </a:bodyPr>
          <a:lstStyle/>
          <a:p>
            <a:pPr marL="0" indent="0">
              <a:lnSpc>
                <a:spcPct val="150000"/>
              </a:lnSpc>
              <a:buNone/>
            </a:pPr>
            <a:r>
              <a:rPr lang="en-US" dirty="0"/>
              <a:t>The data that is stored in a file is frequently organized in records. A record is a complete set of data about an item, and a field is an individual piece of data within a record.</a:t>
            </a:r>
          </a:p>
        </p:txBody>
      </p:sp>
      <p:pic>
        <p:nvPicPr>
          <p:cNvPr id="4" name="Picture 3">
            <a:extLst>
              <a:ext uri="{FF2B5EF4-FFF2-40B4-BE49-F238E27FC236}">
                <a16:creationId xmlns:a16="http://schemas.microsoft.com/office/drawing/2014/main" id="{1A6B3F0D-624C-4BFE-8474-DE2D03391C83}"/>
              </a:ext>
            </a:extLst>
          </p:cNvPr>
          <p:cNvPicPr>
            <a:picLocks noChangeAspect="1"/>
          </p:cNvPicPr>
          <p:nvPr/>
        </p:nvPicPr>
        <p:blipFill>
          <a:blip r:embed="rId2"/>
          <a:stretch>
            <a:fillRect/>
          </a:stretch>
        </p:blipFill>
        <p:spPr>
          <a:xfrm>
            <a:off x="3807490" y="2952355"/>
            <a:ext cx="5436564" cy="2897116"/>
          </a:xfrm>
          <a:prstGeom prst="rect">
            <a:avLst/>
          </a:prstGeom>
        </p:spPr>
      </p:pic>
    </p:spTree>
    <p:extLst>
      <p:ext uri="{BB962C8B-B14F-4D97-AF65-F5344CB8AC3E}">
        <p14:creationId xmlns:p14="http://schemas.microsoft.com/office/powerpoint/2010/main" val="39689622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8AC44BD-123C-4F15-A1AC-DAAD5C412CEA}"/>
              </a:ext>
            </a:extLst>
          </p:cNvPr>
          <p:cNvSpPr/>
          <p:nvPr/>
        </p:nvSpPr>
        <p:spPr>
          <a:xfrm>
            <a:off x="264459" y="151179"/>
            <a:ext cx="6096000" cy="6555641"/>
          </a:xfrm>
          <a:prstGeom prst="rect">
            <a:avLst/>
          </a:prstGeom>
          <a:solidFill>
            <a:schemeClr val="accent3">
              <a:lumMod val="40000"/>
              <a:lumOff val="60000"/>
            </a:schemeClr>
          </a:solidFill>
        </p:spPr>
        <p:txBody>
          <a:bodyPr>
            <a:spAutoFit/>
          </a:bodyPr>
          <a:lstStyle/>
          <a:p>
            <a:r>
              <a:rPr lang="en-US" sz="1400" dirty="0"/>
              <a:t>def main():</a:t>
            </a:r>
          </a:p>
          <a:p>
            <a:r>
              <a:rPr lang="en-US" sz="1400" dirty="0"/>
              <a:t>    # Get the number of employee records to create.</a:t>
            </a:r>
          </a:p>
          <a:p>
            <a:r>
              <a:rPr lang="en-US" sz="1400" dirty="0"/>
              <a:t>    </a:t>
            </a:r>
            <a:r>
              <a:rPr lang="en-US" sz="1400" dirty="0" err="1"/>
              <a:t>num_emps</a:t>
            </a:r>
            <a:r>
              <a:rPr lang="en-US" sz="1400" dirty="0"/>
              <a:t> = int(input('How many employee records do you want to create? '))</a:t>
            </a:r>
          </a:p>
          <a:p>
            <a:endParaRPr lang="en-US" sz="1400" dirty="0"/>
          </a:p>
          <a:p>
            <a:r>
              <a:rPr lang="en-US" sz="1400" dirty="0"/>
              <a:t>    # Open a file for writing.</a:t>
            </a:r>
          </a:p>
          <a:p>
            <a:r>
              <a:rPr lang="en-US" sz="1400" dirty="0"/>
              <a:t>    </a:t>
            </a:r>
            <a:r>
              <a:rPr lang="en-US" sz="1400" dirty="0" err="1"/>
              <a:t>emp_file</a:t>
            </a:r>
            <a:r>
              <a:rPr lang="en-US" sz="1400" dirty="0"/>
              <a:t> = open('employees.txt', 'w')</a:t>
            </a:r>
          </a:p>
          <a:p>
            <a:endParaRPr lang="en-US" sz="1400" dirty="0"/>
          </a:p>
          <a:p>
            <a:r>
              <a:rPr lang="en-US" sz="1400" dirty="0"/>
              <a:t>    # Get each employee's data and write it to the file.</a:t>
            </a:r>
          </a:p>
          <a:p>
            <a:r>
              <a:rPr lang="en-US" sz="1400" dirty="0"/>
              <a:t>    for count in range(1, </a:t>
            </a:r>
            <a:r>
              <a:rPr lang="en-US" sz="1400" dirty="0" err="1"/>
              <a:t>num_emps</a:t>
            </a:r>
            <a:r>
              <a:rPr lang="en-US" sz="1400" dirty="0"/>
              <a:t> + 1):</a:t>
            </a:r>
          </a:p>
          <a:p>
            <a:r>
              <a:rPr lang="en-US" sz="1400" dirty="0"/>
              <a:t>        # Get the data for an employee.</a:t>
            </a:r>
          </a:p>
          <a:p>
            <a:r>
              <a:rPr lang="en-US" sz="1400" dirty="0"/>
              <a:t>        print(</a:t>
            </a:r>
            <a:r>
              <a:rPr lang="en-US" sz="1400" dirty="0" err="1"/>
              <a:t>f'Enter</a:t>
            </a:r>
            <a:r>
              <a:rPr lang="en-US" sz="1400" dirty="0"/>
              <a:t> data for employee #{count}')</a:t>
            </a:r>
          </a:p>
          <a:p>
            <a:r>
              <a:rPr lang="en-US" sz="1400" dirty="0"/>
              <a:t>        name = input('Name: ')</a:t>
            </a:r>
          </a:p>
          <a:p>
            <a:r>
              <a:rPr lang="en-US" sz="1400" dirty="0"/>
              <a:t>        </a:t>
            </a:r>
            <a:r>
              <a:rPr lang="en-US" sz="1400" dirty="0" err="1"/>
              <a:t>id_num</a:t>
            </a:r>
            <a:r>
              <a:rPr lang="en-US" sz="1400" dirty="0"/>
              <a:t> = input('ID number: ')</a:t>
            </a:r>
          </a:p>
          <a:p>
            <a:r>
              <a:rPr lang="en-US" sz="1400" dirty="0"/>
              <a:t>        dept = input('Department: ')</a:t>
            </a:r>
          </a:p>
          <a:p>
            <a:endParaRPr lang="en-US" sz="1400" dirty="0"/>
          </a:p>
          <a:p>
            <a:r>
              <a:rPr lang="en-US" sz="1400" dirty="0"/>
              <a:t>        # Write the data as a record to the file.</a:t>
            </a:r>
          </a:p>
          <a:p>
            <a:r>
              <a:rPr lang="en-US" sz="1400" dirty="0"/>
              <a:t>        </a:t>
            </a:r>
            <a:r>
              <a:rPr lang="en-US" sz="1400" dirty="0" err="1"/>
              <a:t>emp_file.write</a:t>
            </a:r>
            <a:r>
              <a:rPr lang="en-US" sz="1400" dirty="0"/>
              <a:t>(f'{name}\n')</a:t>
            </a:r>
          </a:p>
          <a:p>
            <a:r>
              <a:rPr lang="en-US" sz="1400" dirty="0"/>
              <a:t>        </a:t>
            </a:r>
            <a:r>
              <a:rPr lang="en-US" sz="1400" dirty="0" err="1"/>
              <a:t>emp_file.write</a:t>
            </a:r>
            <a:r>
              <a:rPr lang="en-US" sz="1400" dirty="0"/>
              <a:t>(f'{</a:t>
            </a:r>
            <a:r>
              <a:rPr lang="en-US" sz="1400" dirty="0" err="1"/>
              <a:t>id_num</a:t>
            </a:r>
            <a:r>
              <a:rPr lang="en-US" sz="1400" dirty="0"/>
              <a:t>}\n')</a:t>
            </a:r>
          </a:p>
          <a:p>
            <a:r>
              <a:rPr lang="en-US" sz="1400" dirty="0"/>
              <a:t>        </a:t>
            </a:r>
            <a:r>
              <a:rPr lang="en-US" sz="1400" dirty="0" err="1"/>
              <a:t>emp_file.write</a:t>
            </a:r>
            <a:r>
              <a:rPr lang="en-US" sz="1400" dirty="0"/>
              <a:t>(f'{dept}\n')</a:t>
            </a:r>
          </a:p>
          <a:p>
            <a:endParaRPr lang="en-US" sz="1400" dirty="0"/>
          </a:p>
          <a:p>
            <a:r>
              <a:rPr lang="en-US" sz="1400" dirty="0"/>
              <a:t>        # Display a blank line.</a:t>
            </a:r>
          </a:p>
          <a:p>
            <a:r>
              <a:rPr lang="en-US" sz="1400" dirty="0"/>
              <a:t>        print()</a:t>
            </a:r>
          </a:p>
          <a:p>
            <a:endParaRPr lang="en-US" sz="1400" dirty="0"/>
          </a:p>
          <a:p>
            <a:r>
              <a:rPr lang="en-US" sz="1400" dirty="0"/>
              <a:t>    # Close the file.</a:t>
            </a:r>
          </a:p>
          <a:p>
            <a:r>
              <a:rPr lang="en-US" sz="1400" dirty="0"/>
              <a:t>    </a:t>
            </a:r>
            <a:r>
              <a:rPr lang="en-US" sz="1400" dirty="0" err="1"/>
              <a:t>emp_file.close</a:t>
            </a:r>
            <a:r>
              <a:rPr lang="en-US" sz="1400" dirty="0"/>
              <a:t>()</a:t>
            </a:r>
          </a:p>
          <a:p>
            <a:r>
              <a:rPr lang="en-US" sz="1400" dirty="0"/>
              <a:t>    print('Employee records written to employees.txt.')</a:t>
            </a:r>
          </a:p>
          <a:p>
            <a:endParaRPr lang="en-US" sz="1400" dirty="0"/>
          </a:p>
          <a:p>
            <a:r>
              <a:rPr lang="en-US" sz="1400" dirty="0"/>
              <a:t>if __name__ == '__main__':</a:t>
            </a:r>
          </a:p>
          <a:p>
            <a:r>
              <a:rPr lang="en-US" sz="1400" dirty="0"/>
              <a:t>    main()</a:t>
            </a:r>
            <a:endParaRPr lang="en-US" dirty="0"/>
          </a:p>
        </p:txBody>
      </p:sp>
      <p:pic>
        <p:nvPicPr>
          <p:cNvPr id="5" name="Picture 4">
            <a:extLst>
              <a:ext uri="{FF2B5EF4-FFF2-40B4-BE49-F238E27FC236}">
                <a16:creationId xmlns:a16="http://schemas.microsoft.com/office/drawing/2014/main" id="{8AD3C5CA-0E63-46AA-A3B2-0A1BAE19BEA2}"/>
              </a:ext>
            </a:extLst>
          </p:cNvPr>
          <p:cNvPicPr>
            <a:picLocks noChangeAspect="1"/>
          </p:cNvPicPr>
          <p:nvPr/>
        </p:nvPicPr>
        <p:blipFill>
          <a:blip r:embed="rId2"/>
          <a:stretch>
            <a:fillRect/>
          </a:stretch>
        </p:blipFill>
        <p:spPr>
          <a:xfrm>
            <a:off x="5961241" y="1841663"/>
            <a:ext cx="5146029" cy="3752313"/>
          </a:xfrm>
          <a:prstGeom prst="rect">
            <a:avLst/>
          </a:prstGeom>
        </p:spPr>
      </p:pic>
    </p:spTree>
    <p:extLst>
      <p:ext uri="{BB962C8B-B14F-4D97-AF65-F5344CB8AC3E}">
        <p14:creationId xmlns:p14="http://schemas.microsoft.com/office/powerpoint/2010/main" val="34791100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78D532F-953A-4115-AFFF-41962E55EC27}"/>
              </a:ext>
            </a:extLst>
          </p:cNvPr>
          <p:cNvSpPr/>
          <p:nvPr/>
        </p:nvSpPr>
        <p:spPr>
          <a:xfrm>
            <a:off x="533400" y="115356"/>
            <a:ext cx="5948082" cy="6555641"/>
          </a:xfrm>
          <a:prstGeom prst="rect">
            <a:avLst/>
          </a:prstGeom>
          <a:solidFill>
            <a:schemeClr val="accent5">
              <a:lumMod val="60000"/>
              <a:lumOff val="40000"/>
            </a:schemeClr>
          </a:solidFill>
        </p:spPr>
        <p:txBody>
          <a:bodyPr wrap="square">
            <a:spAutoFit/>
          </a:bodyPr>
          <a:lstStyle/>
          <a:p>
            <a:r>
              <a:rPr lang="en-US" sz="1400" dirty="0"/>
              <a:t>def main():</a:t>
            </a:r>
          </a:p>
          <a:p>
            <a:r>
              <a:rPr lang="en-US" sz="1400" dirty="0"/>
              <a:t>    # Open the employees.txt file.</a:t>
            </a:r>
          </a:p>
          <a:p>
            <a:r>
              <a:rPr lang="en-US" sz="1400" dirty="0"/>
              <a:t>    </a:t>
            </a:r>
            <a:r>
              <a:rPr lang="en-US" sz="1400" dirty="0" err="1"/>
              <a:t>emp_file</a:t>
            </a:r>
            <a:r>
              <a:rPr lang="en-US" sz="1400" dirty="0"/>
              <a:t> = open('employees.txt', 'r')</a:t>
            </a:r>
          </a:p>
          <a:p>
            <a:endParaRPr lang="en-US" sz="1400" dirty="0"/>
          </a:p>
          <a:p>
            <a:r>
              <a:rPr lang="en-US" sz="1400" dirty="0"/>
              <a:t>    # Read the first line from the file, which is</a:t>
            </a:r>
          </a:p>
          <a:p>
            <a:r>
              <a:rPr lang="en-US" sz="1400" dirty="0"/>
              <a:t>    # the name field of the first record.</a:t>
            </a:r>
          </a:p>
          <a:p>
            <a:r>
              <a:rPr lang="en-US" sz="1400" dirty="0"/>
              <a:t>    name = </a:t>
            </a:r>
            <a:r>
              <a:rPr lang="en-US" sz="1400" dirty="0" err="1"/>
              <a:t>emp_file.readline</a:t>
            </a:r>
            <a:r>
              <a:rPr lang="en-US" sz="1400" dirty="0"/>
              <a:t>().</a:t>
            </a:r>
            <a:r>
              <a:rPr lang="en-US" sz="1400" dirty="0" err="1"/>
              <a:t>rstrip</a:t>
            </a:r>
            <a:r>
              <a:rPr lang="en-US" sz="1400" dirty="0"/>
              <a:t>('\n')</a:t>
            </a:r>
          </a:p>
          <a:p>
            <a:endParaRPr lang="en-US" sz="1400" dirty="0"/>
          </a:p>
          <a:p>
            <a:r>
              <a:rPr lang="en-US" sz="1400" dirty="0"/>
              <a:t>    # Loop to process and display records.</a:t>
            </a:r>
          </a:p>
          <a:p>
            <a:r>
              <a:rPr lang="en-US" sz="1400" dirty="0"/>
              <a:t>    while name:</a:t>
            </a:r>
          </a:p>
          <a:p>
            <a:r>
              <a:rPr lang="en-US" sz="1400" dirty="0"/>
              <a:t>        # Read the ID number field.</a:t>
            </a:r>
          </a:p>
          <a:p>
            <a:r>
              <a:rPr lang="en-US" sz="1400" dirty="0"/>
              <a:t>        </a:t>
            </a:r>
            <a:r>
              <a:rPr lang="en-US" sz="1400" dirty="0" err="1"/>
              <a:t>id_num</a:t>
            </a:r>
            <a:r>
              <a:rPr lang="en-US" sz="1400" dirty="0"/>
              <a:t> = </a:t>
            </a:r>
            <a:r>
              <a:rPr lang="en-US" sz="1400" dirty="0" err="1"/>
              <a:t>emp_file.readline</a:t>
            </a:r>
            <a:r>
              <a:rPr lang="en-US" sz="1400" dirty="0"/>
              <a:t>().</a:t>
            </a:r>
            <a:r>
              <a:rPr lang="en-US" sz="1400" dirty="0" err="1"/>
              <a:t>rstrip</a:t>
            </a:r>
            <a:r>
              <a:rPr lang="en-US" sz="1400" dirty="0"/>
              <a:t>('\n')</a:t>
            </a:r>
          </a:p>
          <a:p>
            <a:endParaRPr lang="en-US" sz="1400" dirty="0"/>
          </a:p>
          <a:p>
            <a:r>
              <a:rPr lang="en-US" sz="1400" dirty="0"/>
              <a:t>        # Read the department field.</a:t>
            </a:r>
          </a:p>
          <a:p>
            <a:r>
              <a:rPr lang="en-US" sz="1400" dirty="0"/>
              <a:t>        dept = </a:t>
            </a:r>
            <a:r>
              <a:rPr lang="en-US" sz="1400" dirty="0" err="1"/>
              <a:t>emp_file.readline</a:t>
            </a:r>
            <a:r>
              <a:rPr lang="en-US" sz="1400" dirty="0"/>
              <a:t>().</a:t>
            </a:r>
            <a:r>
              <a:rPr lang="en-US" sz="1400" dirty="0" err="1"/>
              <a:t>rstrip</a:t>
            </a:r>
            <a:r>
              <a:rPr lang="en-US" sz="1400" dirty="0"/>
              <a:t>('\n')</a:t>
            </a:r>
          </a:p>
          <a:p>
            <a:endParaRPr lang="en-US" sz="1400" dirty="0"/>
          </a:p>
          <a:p>
            <a:r>
              <a:rPr lang="en-US" sz="1400" dirty="0"/>
              <a:t>        # Display the record.</a:t>
            </a:r>
          </a:p>
          <a:p>
            <a:r>
              <a:rPr lang="en-US" sz="1400" dirty="0"/>
              <a:t>        print(</a:t>
            </a:r>
            <a:r>
              <a:rPr lang="en-US" sz="1400" dirty="0" err="1"/>
              <a:t>f'Name</a:t>
            </a:r>
            <a:r>
              <a:rPr lang="en-US" sz="1400" dirty="0"/>
              <a:t>: {name}')</a:t>
            </a:r>
          </a:p>
          <a:p>
            <a:r>
              <a:rPr lang="en-US" sz="1400" dirty="0"/>
              <a:t>        print(</a:t>
            </a:r>
            <a:r>
              <a:rPr lang="en-US" sz="1400" dirty="0" err="1"/>
              <a:t>f'ID</a:t>
            </a:r>
            <a:r>
              <a:rPr lang="en-US" sz="1400" dirty="0"/>
              <a:t>: {</a:t>
            </a:r>
            <a:r>
              <a:rPr lang="en-US" sz="1400" dirty="0" err="1"/>
              <a:t>id_num</a:t>
            </a:r>
            <a:r>
              <a:rPr lang="en-US" sz="1400" dirty="0"/>
              <a:t>}')</a:t>
            </a:r>
          </a:p>
          <a:p>
            <a:r>
              <a:rPr lang="en-US" sz="1400" dirty="0"/>
              <a:t>        print(</a:t>
            </a:r>
            <a:r>
              <a:rPr lang="en-US" sz="1400" dirty="0" err="1"/>
              <a:t>f'Dept</a:t>
            </a:r>
            <a:r>
              <a:rPr lang="en-US" sz="1400" dirty="0"/>
              <a:t>: {dept}')</a:t>
            </a:r>
          </a:p>
          <a:p>
            <a:r>
              <a:rPr lang="en-US" sz="1400" dirty="0"/>
              <a:t>        print()</a:t>
            </a:r>
          </a:p>
          <a:p>
            <a:endParaRPr lang="en-US" sz="1400" dirty="0"/>
          </a:p>
          <a:p>
            <a:r>
              <a:rPr lang="en-US" sz="1400" dirty="0"/>
              <a:t>        # Read the name field of the next record.</a:t>
            </a:r>
          </a:p>
          <a:p>
            <a:r>
              <a:rPr lang="en-US" sz="1400" dirty="0"/>
              <a:t>        name = </a:t>
            </a:r>
            <a:r>
              <a:rPr lang="en-US" sz="1400" dirty="0" err="1"/>
              <a:t>emp_file.readline</a:t>
            </a:r>
            <a:r>
              <a:rPr lang="en-US" sz="1400" dirty="0"/>
              <a:t>().</a:t>
            </a:r>
            <a:r>
              <a:rPr lang="en-US" sz="1400" dirty="0" err="1"/>
              <a:t>rstrip</a:t>
            </a:r>
            <a:r>
              <a:rPr lang="en-US" sz="1400" dirty="0"/>
              <a:t>('\n')</a:t>
            </a:r>
          </a:p>
          <a:p>
            <a:endParaRPr lang="en-US" sz="1400" dirty="0"/>
          </a:p>
          <a:p>
            <a:r>
              <a:rPr lang="en-US" sz="1400" dirty="0"/>
              <a:t>    # Close the file.</a:t>
            </a:r>
          </a:p>
          <a:p>
            <a:r>
              <a:rPr lang="en-US" sz="1400" dirty="0"/>
              <a:t>    </a:t>
            </a:r>
            <a:r>
              <a:rPr lang="en-US" sz="1400" dirty="0" err="1"/>
              <a:t>emp_file.close</a:t>
            </a:r>
            <a:r>
              <a:rPr lang="en-US" sz="1400" dirty="0"/>
              <a:t>()</a:t>
            </a:r>
          </a:p>
          <a:p>
            <a:endParaRPr lang="en-US" sz="1400" dirty="0"/>
          </a:p>
          <a:p>
            <a:r>
              <a:rPr lang="en-US" sz="1400" dirty="0"/>
              <a:t>if __name__ == '__main__':</a:t>
            </a:r>
          </a:p>
          <a:p>
            <a:r>
              <a:rPr lang="en-US" sz="1400" dirty="0"/>
              <a:t>    main()</a:t>
            </a:r>
            <a:endParaRPr lang="en-US" sz="1600" dirty="0"/>
          </a:p>
        </p:txBody>
      </p:sp>
      <p:pic>
        <p:nvPicPr>
          <p:cNvPr id="5" name="Picture 4">
            <a:extLst>
              <a:ext uri="{FF2B5EF4-FFF2-40B4-BE49-F238E27FC236}">
                <a16:creationId xmlns:a16="http://schemas.microsoft.com/office/drawing/2014/main" id="{376437A0-37D8-4B56-A7CB-80A6A9109DB1}"/>
              </a:ext>
            </a:extLst>
          </p:cNvPr>
          <p:cNvPicPr>
            <a:picLocks noChangeAspect="1"/>
          </p:cNvPicPr>
          <p:nvPr/>
        </p:nvPicPr>
        <p:blipFill>
          <a:blip r:embed="rId2"/>
          <a:stretch>
            <a:fillRect/>
          </a:stretch>
        </p:blipFill>
        <p:spPr>
          <a:xfrm>
            <a:off x="6096000" y="2137113"/>
            <a:ext cx="4137212" cy="2878640"/>
          </a:xfrm>
          <a:prstGeom prst="rect">
            <a:avLst/>
          </a:prstGeom>
        </p:spPr>
      </p:pic>
    </p:spTree>
    <p:extLst>
      <p:ext uri="{BB962C8B-B14F-4D97-AF65-F5344CB8AC3E}">
        <p14:creationId xmlns:p14="http://schemas.microsoft.com/office/powerpoint/2010/main" val="13946929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7C710-637B-4110-AE6A-D65E4091508E}"/>
              </a:ext>
            </a:extLst>
          </p:cNvPr>
          <p:cNvSpPr>
            <a:spLocks noGrp="1"/>
          </p:cNvSpPr>
          <p:nvPr>
            <p:ph type="title"/>
          </p:nvPr>
        </p:nvSpPr>
        <p:spPr>
          <a:xfrm>
            <a:off x="1456764" y="363071"/>
            <a:ext cx="8610600" cy="1293028"/>
          </a:xfrm>
        </p:spPr>
        <p:txBody>
          <a:bodyPr/>
          <a:lstStyle/>
          <a:p>
            <a:pPr algn="ctr"/>
            <a:r>
              <a:rPr lang="en-US" b="1" dirty="0"/>
              <a:t>QUESTION</a:t>
            </a:r>
          </a:p>
        </p:txBody>
      </p:sp>
      <p:sp>
        <p:nvSpPr>
          <p:cNvPr id="3" name="Content Placeholder 2">
            <a:extLst>
              <a:ext uri="{FF2B5EF4-FFF2-40B4-BE49-F238E27FC236}">
                <a16:creationId xmlns:a16="http://schemas.microsoft.com/office/drawing/2014/main" id="{1EE86D6E-495A-49C6-A0CF-FC2331269F67}"/>
              </a:ext>
            </a:extLst>
          </p:cNvPr>
          <p:cNvSpPr>
            <a:spLocks noGrp="1"/>
          </p:cNvSpPr>
          <p:nvPr>
            <p:ph idx="1"/>
          </p:nvPr>
        </p:nvSpPr>
        <p:spPr>
          <a:xfrm>
            <a:off x="685800" y="1416937"/>
            <a:ext cx="10820400" cy="4024125"/>
          </a:xfrm>
        </p:spPr>
        <p:txBody>
          <a:bodyPr>
            <a:normAutofit fontScale="92500"/>
          </a:bodyPr>
          <a:lstStyle/>
          <a:p>
            <a:pPr marL="0" indent="0" algn="just">
              <a:lnSpc>
                <a:spcPct val="150000"/>
              </a:lnSpc>
              <a:buNone/>
            </a:pPr>
            <a:r>
              <a:rPr lang="en-US" dirty="0">
                <a:latin typeface="Arial" panose="020B0604020202020204" pitchFamily="34" charset="0"/>
                <a:cs typeface="Arial" panose="020B0604020202020204" pitchFamily="34" charset="0"/>
              </a:rPr>
              <a:t>Midnight Coffee Roasters, Inc. is a small company that imports raw coffee beans from around the world and roasts them to create a variety of gourmet coffees. Julie, the owner of the company, has asked you to write a series of programs that she can use to manage her inventory. After speaking with her, you have determined that a file is needed to keep inventory records. Each record should have two fields to hold the following data: </a:t>
            </a:r>
          </a:p>
          <a:p>
            <a:pPr marL="0" indent="0" algn="just">
              <a:lnSpc>
                <a:spcPct val="150000"/>
              </a:lnSpc>
              <a:buNone/>
            </a:pPr>
            <a:r>
              <a:rPr lang="en-US" dirty="0">
                <a:latin typeface="Arial" panose="020B0604020202020204" pitchFamily="34" charset="0"/>
                <a:cs typeface="Arial" panose="020B0604020202020204" pitchFamily="34" charset="0"/>
              </a:rPr>
              <a:t>• Description. A string containing the name of the coffee </a:t>
            </a:r>
          </a:p>
          <a:p>
            <a:pPr marL="0" indent="0" algn="just">
              <a:lnSpc>
                <a:spcPct val="150000"/>
              </a:lnSpc>
              <a:buNone/>
            </a:pPr>
            <a:r>
              <a:rPr lang="en-US" dirty="0">
                <a:latin typeface="Arial" panose="020B0604020202020204" pitchFamily="34" charset="0"/>
                <a:cs typeface="Arial" panose="020B0604020202020204" pitchFamily="34" charset="0"/>
              </a:rPr>
              <a:t>• Quantity in inventory. The number of pounds in inventory, as a floating-point number Your first job is to write a program that can be used to add records to the file. </a:t>
            </a:r>
          </a:p>
        </p:txBody>
      </p:sp>
    </p:spTree>
    <p:extLst>
      <p:ext uri="{BB962C8B-B14F-4D97-AF65-F5344CB8AC3E}">
        <p14:creationId xmlns:p14="http://schemas.microsoft.com/office/powerpoint/2010/main" val="3948508771"/>
      </p:ext>
    </p:extLst>
  </p:cSld>
  <p:clrMapOvr>
    <a:masterClrMapping/>
  </p:clrMapOvr>
</p:sld>
</file>

<file path=ppt/theme/theme1.xml><?xml version="1.0" encoding="utf-8"?>
<a:theme xmlns:a="http://schemas.openxmlformats.org/drawingml/2006/main" name="Vapor Trail">
  <a:themeElements>
    <a:clrScheme name="Red Violet">
      <a:dk1>
        <a:sysClr val="windowText" lastClr="000000"/>
      </a:dk1>
      <a:lt1>
        <a:sysClr val="window" lastClr="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6B9F25"/>
      </a:hlink>
      <a:folHlink>
        <a:srgbClr val="8C8C8C"/>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6DB8EB18-3657-4051-A897-2ED38832359E}"/>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58ABB186A85454283779F1D5AC4F082" ma:contentTypeVersion="10" ma:contentTypeDescription="Create a new document." ma:contentTypeScope="" ma:versionID="16b1ca030e39e0bce44b9a93edd2ee3b">
  <xsd:schema xmlns:xsd="http://www.w3.org/2001/XMLSchema" xmlns:xs="http://www.w3.org/2001/XMLSchema" xmlns:p="http://schemas.microsoft.com/office/2006/metadata/properties" xmlns:ns3="5e421343-59c8-40ef-9ea1-ece5ea67b612" targetNamespace="http://schemas.microsoft.com/office/2006/metadata/properties" ma:root="true" ma:fieldsID="33a2301729f0b4ee79a0fb5b0dd671ec" ns3:_="">
    <xsd:import namespace="5e421343-59c8-40ef-9ea1-ece5ea67b612"/>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21343-59c8-40ef-9ea1-ece5ea67b6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SystemTags" ma:index="17" nillable="true" ma:displayName="MediaServiceSystemTags" ma:hidden="true" ma:internalName="MediaServiceSystemTag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EC35547-3D77-46B8-B017-93649C57DCC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21343-59c8-40ef-9ea1-ece5ea67b61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7355D85-5528-44F1-8D85-B52DD6B19FE0}">
  <ds:schemaRefs>
    <ds:schemaRef ds:uri="http://schemas.microsoft.com/sharepoint/v3/contenttype/forms"/>
  </ds:schemaRefs>
</ds:datastoreItem>
</file>

<file path=customXml/itemProps3.xml><?xml version="1.0" encoding="utf-8"?>
<ds:datastoreItem xmlns:ds="http://schemas.openxmlformats.org/officeDocument/2006/customXml" ds:itemID="{ADF6F21F-3C1E-4EB3-BEF7-07CF69D0E65E}">
  <ds:schemaRefs>
    <ds:schemaRef ds:uri="http://purl.org/dc/dcmitype/"/>
    <ds:schemaRef ds:uri="http://schemas.microsoft.com/office/2006/metadata/properties"/>
    <ds:schemaRef ds:uri="http://schemas.microsoft.com/office/infopath/2007/PartnerControls"/>
    <ds:schemaRef ds:uri="http://purl.org/dc/elements/1.1/"/>
    <ds:schemaRef ds:uri="5e421343-59c8-40ef-9ea1-ece5ea67b612"/>
    <ds:schemaRef ds:uri="http://schemas.microsoft.com/office/2006/documentManagement/types"/>
    <ds:schemaRef ds:uri="http://schemas.openxmlformats.org/package/2006/metadata/core-properties"/>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emplate>TM04033937[[fn=Vapor Trail]]</Template>
  <TotalTime>84</TotalTime>
  <Words>1823</Words>
  <Application>Microsoft Office PowerPoint</Application>
  <PresentationFormat>Widescreen</PresentationFormat>
  <Paragraphs>191</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Century Gothic</vt:lpstr>
      <vt:lpstr>Wingdings</vt:lpstr>
      <vt:lpstr>Vapor Trail</vt:lpstr>
      <vt:lpstr>TOPIC 10: File Handling</vt:lpstr>
      <vt:lpstr>CONTENTS</vt:lpstr>
      <vt:lpstr>Introduction to File Input and Output</vt:lpstr>
      <vt:lpstr>how to write data to files and read data from files</vt:lpstr>
      <vt:lpstr>Opening a File</vt:lpstr>
      <vt:lpstr>PowerPoint Presentation</vt:lpstr>
      <vt:lpstr>Using Loops to Process Files</vt:lpstr>
      <vt:lpstr>PowerPoint Presentation</vt:lpstr>
      <vt:lpstr>question</vt:lpstr>
      <vt:lpstr>Processing Records</vt:lpstr>
      <vt:lpstr>PowerPoint Presentation</vt:lpstr>
      <vt:lpstr>PowerPoint Presentation</vt:lpstr>
      <vt:lpstr>QUESTION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10: File Handling</dc:title>
  <dc:creator>Navitha A/P. Gunalan</dc:creator>
  <cp:lastModifiedBy>Navitha A/P. Gunalan</cp:lastModifiedBy>
  <cp:revision>9</cp:revision>
  <dcterms:created xsi:type="dcterms:W3CDTF">2023-10-30T06:24:49Z</dcterms:created>
  <dcterms:modified xsi:type="dcterms:W3CDTF">2023-10-30T07:49:14Z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0x010100958ABB186A85454283779F1D5AC4F082</vt:lpwstr>
  </property>
</Properties>
</file>