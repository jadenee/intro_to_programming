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FF"/>
    <a:srgbClr val="99CCFF"/>
    <a:srgbClr val="99FF99"/>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4" autoAdjust="0"/>
    <p:restoredTop sz="94660"/>
  </p:normalViewPr>
  <p:slideViewPr>
    <p:cSldViewPr snapToGrid="0">
      <p:cViewPr varScale="1">
        <p:scale>
          <a:sx n="71" d="100"/>
          <a:sy n="71"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itha A/P. Gunalan" userId="ea7bfe52-eb47-41e4-a145-3fc04b43606e" providerId="ADAL" clId="{EEBFA7A4-39B0-4CC8-99EB-4AAFDEADC6B3}"/>
    <pc:docChg chg="undo custSel addSld modSld">
      <pc:chgData name="Navitha A/P. Gunalan" userId="ea7bfe52-eb47-41e4-a145-3fc04b43606e" providerId="ADAL" clId="{EEBFA7A4-39B0-4CC8-99EB-4AAFDEADC6B3}" dt="2023-10-05T15:06:40.359" v="125" actId="1076"/>
      <pc:docMkLst>
        <pc:docMk/>
      </pc:docMkLst>
      <pc:sldChg chg="addSp modSp add">
        <pc:chgData name="Navitha A/P. Gunalan" userId="ea7bfe52-eb47-41e4-a145-3fc04b43606e" providerId="ADAL" clId="{EEBFA7A4-39B0-4CC8-99EB-4AAFDEADC6B3}" dt="2023-10-05T15:02:07.198" v="24" actId="1076"/>
        <pc:sldMkLst>
          <pc:docMk/>
          <pc:sldMk cId="2014955082" sldId="269"/>
        </pc:sldMkLst>
        <pc:spChg chg="mod">
          <ac:chgData name="Navitha A/P. Gunalan" userId="ea7bfe52-eb47-41e4-a145-3fc04b43606e" providerId="ADAL" clId="{EEBFA7A4-39B0-4CC8-99EB-4AAFDEADC6B3}" dt="2023-10-05T14:59:41.283" v="4" actId="1076"/>
          <ac:spMkLst>
            <pc:docMk/>
            <pc:sldMk cId="2014955082" sldId="269"/>
            <ac:spMk id="2" creationId="{E36723C3-F17B-45A5-8D31-690E7F0BAE96}"/>
          </ac:spMkLst>
        </pc:spChg>
        <pc:spChg chg="mod">
          <ac:chgData name="Navitha A/P. Gunalan" userId="ea7bfe52-eb47-41e4-a145-3fc04b43606e" providerId="ADAL" clId="{EEBFA7A4-39B0-4CC8-99EB-4AAFDEADC6B3}" dt="2023-10-05T15:00:43.811" v="10" actId="14100"/>
          <ac:spMkLst>
            <pc:docMk/>
            <pc:sldMk cId="2014955082" sldId="269"/>
            <ac:spMk id="3" creationId="{68FD91E0-DB34-4DA7-9DCB-B51415C91989}"/>
          </ac:spMkLst>
        </pc:spChg>
        <pc:spChg chg="add mod">
          <ac:chgData name="Navitha A/P. Gunalan" userId="ea7bfe52-eb47-41e4-a145-3fc04b43606e" providerId="ADAL" clId="{EEBFA7A4-39B0-4CC8-99EB-4AAFDEADC6B3}" dt="2023-10-05T15:02:05.196" v="23" actId="1076"/>
          <ac:spMkLst>
            <pc:docMk/>
            <pc:sldMk cId="2014955082" sldId="269"/>
            <ac:spMk id="4" creationId="{2B3674A7-E075-4B88-8D55-181166997B43}"/>
          </ac:spMkLst>
        </pc:spChg>
        <pc:spChg chg="add mod">
          <ac:chgData name="Navitha A/P. Gunalan" userId="ea7bfe52-eb47-41e4-a145-3fc04b43606e" providerId="ADAL" clId="{EEBFA7A4-39B0-4CC8-99EB-4AAFDEADC6B3}" dt="2023-10-05T15:02:07.198" v="24" actId="1076"/>
          <ac:spMkLst>
            <pc:docMk/>
            <pc:sldMk cId="2014955082" sldId="269"/>
            <ac:spMk id="5" creationId="{2DCD41E5-4C46-4CE4-8DAB-8893B729E1AD}"/>
          </ac:spMkLst>
        </pc:spChg>
      </pc:sldChg>
      <pc:sldChg chg="addSp delSp modSp add">
        <pc:chgData name="Navitha A/P. Gunalan" userId="ea7bfe52-eb47-41e4-a145-3fc04b43606e" providerId="ADAL" clId="{EEBFA7A4-39B0-4CC8-99EB-4AAFDEADC6B3}" dt="2023-10-05T15:03:44.583" v="41" actId="14100"/>
        <pc:sldMkLst>
          <pc:docMk/>
          <pc:sldMk cId="480054950" sldId="270"/>
        </pc:sldMkLst>
        <pc:spChg chg="del">
          <ac:chgData name="Navitha A/P. Gunalan" userId="ea7bfe52-eb47-41e4-a145-3fc04b43606e" providerId="ADAL" clId="{EEBFA7A4-39B0-4CC8-99EB-4AAFDEADC6B3}" dt="2023-10-05T15:02:12.319" v="26"/>
          <ac:spMkLst>
            <pc:docMk/>
            <pc:sldMk cId="480054950" sldId="270"/>
            <ac:spMk id="2" creationId="{64DB4017-39AE-4F83-81D6-F45CD905BA3C}"/>
          </ac:spMkLst>
        </pc:spChg>
        <pc:spChg chg="mod">
          <ac:chgData name="Navitha A/P. Gunalan" userId="ea7bfe52-eb47-41e4-a145-3fc04b43606e" providerId="ADAL" clId="{EEBFA7A4-39B0-4CC8-99EB-4AAFDEADC6B3}" dt="2023-10-05T15:02:46.160" v="33" actId="207"/>
          <ac:spMkLst>
            <pc:docMk/>
            <pc:sldMk cId="480054950" sldId="270"/>
            <ac:spMk id="3" creationId="{5D2C588A-C730-4F36-9002-7EB273391403}"/>
          </ac:spMkLst>
        </pc:spChg>
        <pc:picChg chg="add mod">
          <ac:chgData name="Navitha A/P. Gunalan" userId="ea7bfe52-eb47-41e4-a145-3fc04b43606e" providerId="ADAL" clId="{EEBFA7A4-39B0-4CC8-99EB-4AAFDEADC6B3}" dt="2023-10-05T15:03:44.583" v="41" actId="14100"/>
          <ac:picMkLst>
            <pc:docMk/>
            <pc:sldMk cId="480054950" sldId="270"/>
            <ac:picMk id="4" creationId="{86D1D142-EFAB-4CD4-A361-5FA7172CEA28}"/>
          </ac:picMkLst>
        </pc:picChg>
      </pc:sldChg>
      <pc:sldChg chg="addSp delSp modSp add">
        <pc:chgData name="Navitha A/P. Gunalan" userId="ea7bfe52-eb47-41e4-a145-3fc04b43606e" providerId="ADAL" clId="{EEBFA7A4-39B0-4CC8-99EB-4AAFDEADC6B3}" dt="2023-10-05T15:06:40.359" v="125" actId="1076"/>
        <pc:sldMkLst>
          <pc:docMk/>
          <pc:sldMk cId="1317017787" sldId="271"/>
        </pc:sldMkLst>
        <pc:spChg chg="del">
          <ac:chgData name="Navitha A/P. Gunalan" userId="ea7bfe52-eb47-41e4-a145-3fc04b43606e" providerId="ADAL" clId="{EEBFA7A4-39B0-4CC8-99EB-4AAFDEADC6B3}" dt="2023-10-05T15:04:13.510" v="45"/>
          <ac:spMkLst>
            <pc:docMk/>
            <pc:sldMk cId="1317017787" sldId="271"/>
            <ac:spMk id="2" creationId="{232B38A9-4C2F-4960-BC6F-C6E0C91C6A00}"/>
          </ac:spMkLst>
        </pc:spChg>
        <pc:spChg chg="mod">
          <ac:chgData name="Navitha A/P. Gunalan" userId="ea7bfe52-eb47-41e4-a145-3fc04b43606e" providerId="ADAL" clId="{EEBFA7A4-39B0-4CC8-99EB-4AAFDEADC6B3}" dt="2023-10-05T15:05:40.462" v="115" actId="14100"/>
          <ac:spMkLst>
            <pc:docMk/>
            <pc:sldMk cId="1317017787" sldId="271"/>
            <ac:spMk id="3" creationId="{54450286-018D-4130-A567-6DD7D53AC82F}"/>
          </ac:spMkLst>
        </pc:spChg>
        <pc:spChg chg="add mod">
          <ac:chgData name="Navitha A/P. Gunalan" userId="ea7bfe52-eb47-41e4-a145-3fc04b43606e" providerId="ADAL" clId="{EEBFA7A4-39B0-4CC8-99EB-4AAFDEADC6B3}" dt="2023-10-05T15:06:40.359" v="125" actId="1076"/>
          <ac:spMkLst>
            <pc:docMk/>
            <pc:sldMk cId="1317017787" sldId="271"/>
            <ac:spMk id="4" creationId="{31D0DFE6-0B58-43BC-AAE0-4E16AC511B5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4B33F96-558A-4F95-AB52-B8BFE43B9B00}" type="datetimeFigureOut">
              <a:rPr lang="en-US" smtClean="0"/>
              <a:t>10/5/2023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BB05F5-CED5-4C4C-8F86-45FFF37C151D}" type="slidenum">
              <a:rPr lang="en-US" smtClean="0"/>
              <a:t>‹#›</a:t>
            </a:fld>
            <a:endParaRPr lang="en-US"/>
          </a:p>
        </p:txBody>
      </p:sp>
    </p:spTree>
    <p:extLst>
      <p:ext uri="{BB962C8B-B14F-4D97-AF65-F5344CB8AC3E}">
        <p14:creationId xmlns:p14="http://schemas.microsoft.com/office/powerpoint/2010/main" val="20491611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B33F96-558A-4F95-AB52-B8BFE43B9B00}" type="datetimeFigureOut">
              <a:rPr lang="en-US" smtClean="0"/>
              <a:t>10/5/2023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BB05F5-CED5-4C4C-8F86-45FFF37C151D}" type="slidenum">
              <a:rPr lang="en-US" smtClean="0"/>
              <a:t>‹#›</a:t>
            </a:fld>
            <a:endParaRPr lang="en-US"/>
          </a:p>
        </p:txBody>
      </p:sp>
    </p:spTree>
    <p:extLst>
      <p:ext uri="{BB962C8B-B14F-4D97-AF65-F5344CB8AC3E}">
        <p14:creationId xmlns:p14="http://schemas.microsoft.com/office/powerpoint/2010/main" val="1027226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E4B33F96-558A-4F95-AB52-B8BFE43B9B00}" type="datetimeFigureOut">
              <a:rPr lang="en-US" smtClean="0"/>
              <a:t>10/5/2023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BB05F5-CED5-4C4C-8F86-45FFF37C151D}" type="slidenum">
              <a:rPr lang="en-US" smtClean="0"/>
              <a:t>‹#›</a:t>
            </a:fld>
            <a:endParaRPr lang="en-US"/>
          </a:p>
        </p:txBody>
      </p:sp>
    </p:spTree>
    <p:extLst>
      <p:ext uri="{BB962C8B-B14F-4D97-AF65-F5344CB8AC3E}">
        <p14:creationId xmlns:p14="http://schemas.microsoft.com/office/powerpoint/2010/main" val="41217414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4B33F96-558A-4F95-AB52-B8BFE43B9B00}" type="datetimeFigureOut">
              <a:rPr lang="en-US" smtClean="0"/>
              <a:t>10/5/2023</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0BB05F5-CED5-4C4C-8F86-45FFF37C151D}" type="slidenum">
              <a:rPr lang="en-US" smtClean="0"/>
              <a:t>‹#›</a:t>
            </a:fld>
            <a:endParaRPr lang="en-US"/>
          </a:p>
        </p:txBody>
      </p:sp>
    </p:spTree>
    <p:extLst>
      <p:ext uri="{BB962C8B-B14F-4D97-AF65-F5344CB8AC3E}">
        <p14:creationId xmlns:p14="http://schemas.microsoft.com/office/powerpoint/2010/main" val="2718657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E4B33F96-558A-4F95-AB52-B8BFE43B9B00}" type="datetimeFigureOut">
              <a:rPr lang="en-US" smtClean="0"/>
              <a:t>10/5/2023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BB05F5-CED5-4C4C-8F86-45FFF37C151D}"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641634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B33F96-558A-4F95-AB52-B8BFE43B9B00}" type="datetimeFigureOut">
              <a:rPr lang="en-US" smtClean="0"/>
              <a:t>10/5/2023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BB05F5-CED5-4C4C-8F86-45FFF37C151D}" type="slidenum">
              <a:rPr lang="en-US" smtClean="0"/>
              <a:t>‹#›</a:t>
            </a:fld>
            <a:endParaRPr lang="en-US"/>
          </a:p>
        </p:txBody>
      </p:sp>
    </p:spTree>
    <p:extLst>
      <p:ext uri="{BB962C8B-B14F-4D97-AF65-F5344CB8AC3E}">
        <p14:creationId xmlns:p14="http://schemas.microsoft.com/office/powerpoint/2010/main" val="1205495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B33F96-558A-4F95-AB52-B8BFE43B9B00}" type="datetimeFigureOut">
              <a:rPr lang="en-US" smtClean="0"/>
              <a:t>10/5/2023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BB05F5-CED5-4C4C-8F86-45FFF37C151D}" type="slidenum">
              <a:rPr lang="en-US" smtClean="0"/>
              <a:t>‹#›</a:t>
            </a:fld>
            <a:endParaRPr lang="en-US"/>
          </a:p>
        </p:txBody>
      </p:sp>
    </p:spTree>
    <p:extLst>
      <p:ext uri="{BB962C8B-B14F-4D97-AF65-F5344CB8AC3E}">
        <p14:creationId xmlns:p14="http://schemas.microsoft.com/office/powerpoint/2010/main" val="495497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E4B33F96-558A-4F95-AB52-B8BFE43B9B00}" type="datetimeFigureOut">
              <a:rPr lang="en-US" smtClean="0"/>
              <a:t>10/5/2023</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40BB05F5-CED5-4C4C-8F86-45FFF37C151D}" type="slidenum">
              <a:rPr lang="en-US" smtClean="0"/>
              <a:t>‹#›</a:t>
            </a:fld>
            <a:endParaRPr lang="en-US"/>
          </a:p>
        </p:txBody>
      </p:sp>
    </p:spTree>
    <p:extLst>
      <p:ext uri="{BB962C8B-B14F-4D97-AF65-F5344CB8AC3E}">
        <p14:creationId xmlns:p14="http://schemas.microsoft.com/office/powerpoint/2010/main" val="2283894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4B33F96-558A-4F95-AB52-B8BFE43B9B00}" type="datetimeFigureOut">
              <a:rPr lang="en-US" smtClean="0"/>
              <a:t>10/5/2023</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40BB05F5-CED5-4C4C-8F86-45FFF37C151D}" type="slidenum">
              <a:rPr lang="en-US" smtClean="0"/>
              <a:t>‹#›</a:t>
            </a:fld>
            <a:endParaRPr lang="en-US"/>
          </a:p>
        </p:txBody>
      </p:sp>
    </p:spTree>
    <p:extLst>
      <p:ext uri="{BB962C8B-B14F-4D97-AF65-F5344CB8AC3E}">
        <p14:creationId xmlns:p14="http://schemas.microsoft.com/office/powerpoint/2010/main" val="84956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33F96-558A-4F95-AB52-B8BFE43B9B00}" type="datetimeFigureOut">
              <a:rPr lang="en-US" smtClean="0"/>
              <a:t>10/5/2023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BB05F5-CED5-4C4C-8F86-45FFF37C151D}" type="slidenum">
              <a:rPr lang="en-US" smtClean="0"/>
              <a:t>‹#›</a:t>
            </a:fld>
            <a:endParaRPr lang="en-US"/>
          </a:p>
        </p:txBody>
      </p:sp>
    </p:spTree>
    <p:extLst>
      <p:ext uri="{BB962C8B-B14F-4D97-AF65-F5344CB8AC3E}">
        <p14:creationId xmlns:p14="http://schemas.microsoft.com/office/powerpoint/2010/main" val="3236117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B33F96-558A-4F95-AB52-B8BFE43B9B00}" type="datetimeFigureOut">
              <a:rPr lang="en-US" smtClean="0"/>
              <a:t>10/5/2023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BB05F5-CED5-4C4C-8F86-45FFF37C151D}" type="slidenum">
              <a:rPr lang="en-US" smtClean="0"/>
              <a:t>‹#›</a:t>
            </a:fld>
            <a:endParaRPr lang="en-US"/>
          </a:p>
        </p:txBody>
      </p:sp>
    </p:spTree>
    <p:extLst>
      <p:ext uri="{BB962C8B-B14F-4D97-AF65-F5344CB8AC3E}">
        <p14:creationId xmlns:p14="http://schemas.microsoft.com/office/powerpoint/2010/main" val="3776506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4B33F96-558A-4F95-AB52-B8BFE43B9B00}" type="datetimeFigureOut">
              <a:rPr lang="en-US" smtClean="0"/>
              <a:t>10/5/2023</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0BB05F5-CED5-4C4C-8F86-45FFF37C151D}" type="slidenum">
              <a:rPr lang="en-US" smtClean="0"/>
              <a:t>‹#›</a:t>
            </a:fld>
            <a:endParaRPr lang="en-US"/>
          </a:p>
        </p:txBody>
      </p:sp>
    </p:spTree>
    <p:extLst>
      <p:ext uri="{BB962C8B-B14F-4D97-AF65-F5344CB8AC3E}">
        <p14:creationId xmlns:p14="http://schemas.microsoft.com/office/powerpoint/2010/main" val="15877558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BCA6B-BB12-41E8-9159-873AB2E9E502}"/>
              </a:ext>
            </a:extLst>
          </p:cNvPr>
          <p:cNvSpPr>
            <a:spLocks noGrp="1"/>
          </p:cNvSpPr>
          <p:nvPr>
            <p:ph type="ctrTitle"/>
          </p:nvPr>
        </p:nvSpPr>
        <p:spPr/>
        <p:txBody>
          <a:bodyPr/>
          <a:lstStyle/>
          <a:p>
            <a:r>
              <a:rPr lang="en-US" dirty="0"/>
              <a:t>TOPIC 6 FUNCTION</a:t>
            </a:r>
          </a:p>
        </p:txBody>
      </p:sp>
      <p:sp>
        <p:nvSpPr>
          <p:cNvPr id="3" name="Subtitle 2">
            <a:extLst>
              <a:ext uri="{FF2B5EF4-FFF2-40B4-BE49-F238E27FC236}">
                <a16:creationId xmlns:a16="http://schemas.microsoft.com/office/drawing/2014/main" id="{9558A521-B666-479B-B876-8F644423F2F8}"/>
              </a:ext>
            </a:extLst>
          </p:cNvPr>
          <p:cNvSpPr>
            <a:spLocks noGrp="1"/>
          </p:cNvSpPr>
          <p:nvPr>
            <p:ph type="subTitle" idx="1"/>
          </p:nvPr>
        </p:nvSpPr>
        <p:spPr/>
        <p:txBody>
          <a:bodyPr/>
          <a:lstStyle/>
          <a:p>
            <a:endParaRPr lang="en-US" dirty="0"/>
          </a:p>
          <a:p>
            <a:endParaRPr lang="en-US" dirty="0"/>
          </a:p>
        </p:txBody>
      </p:sp>
    </p:spTree>
    <p:extLst>
      <p:ext uri="{BB962C8B-B14F-4D97-AF65-F5344CB8AC3E}">
        <p14:creationId xmlns:p14="http://schemas.microsoft.com/office/powerpoint/2010/main" val="1465434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316C-2457-4853-8118-41E1AEB51C37}"/>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214580ED-29AA-4DB0-BBB9-38D396E709B4}"/>
              </a:ext>
            </a:extLst>
          </p:cNvPr>
          <p:cNvSpPr>
            <a:spLocks noGrp="1"/>
          </p:cNvSpPr>
          <p:nvPr>
            <p:ph idx="1"/>
          </p:nvPr>
        </p:nvSpPr>
        <p:spPr>
          <a:xfrm>
            <a:off x="2231135" y="2638045"/>
            <a:ext cx="8526511" cy="1786038"/>
          </a:xfrm>
        </p:spPr>
        <p:txBody>
          <a:bodyPr>
            <a:normAutofit lnSpcReduction="10000"/>
          </a:bodyPr>
          <a:lstStyle/>
          <a:p>
            <a:r>
              <a:rPr lang="en-US" sz="2400" dirty="0"/>
              <a:t>Define new functions in Python</a:t>
            </a:r>
          </a:p>
          <a:p>
            <a:r>
              <a:rPr lang="en-US" sz="2400" dirty="0"/>
              <a:t>Function calls and parameter passing in Python</a:t>
            </a:r>
          </a:p>
          <a:p>
            <a:r>
              <a:rPr lang="en-US" sz="2400" dirty="0"/>
              <a:t>Functions to reduce code duplication and increase program modularity</a:t>
            </a:r>
          </a:p>
        </p:txBody>
      </p:sp>
    </p:spTree>
    <p:extLst>
      <p:ext uri="{BB962C8B-B14F-4D97-AF65-F5344CB8AC3E}">
        <p14:creationId xmlns:p14="http://schemas.microsoft.com/office/powerpoint/2010/main" val="1892512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8BEBE-D7A4-4E70-8D2E-F6DDA5DB80DE}"/>
              </a:ext>
            </a:extLst>
          </p:cNvPr>
          <p:cNvSpPr>
            <a:spLocks noGrp="1"/>
          </p:cNvSpPr>
          <p:nvPr>
            <p:ph type="title"/>
          </p:nvPr>
        </p:nvSpPr>
        <p:spPr/>
        <p:txBody>
          <a:bodyPr>
            <a:normAutofit fontScale="90000"/>
          </a:bodyPr>
          <a:lstStyle/>
          <a:p>
            <a:pPr marL="228600" lvl="0" indent="-228600">
              <a:lnSpc>
                <a:spcPct val="100000"/>
              </a:lnSpc>
              <a:spcBef>
                <a:spcPts val="1000"/>
              </a:spcBef>
            </a:pPr>
            <a:r>
              <a:rPr lang="en-US" sz="4000" cap="none" spc="0" dirty="0">
                <a:solidFill>
                  <a:srgbClr val="000000">
                    <a:lumMod val="85000"/>
                    <a:lumOff val="15000"/>
                  </a:srgbClr>
                </a:solidFill>
                <a:ea typeface="+mn-ea"/>
                <a:cs typeface="+mn-cs"/>
              </a:rPr>
              <a:t>Define new functions in Python</a:t>
            </a:r>
            <a:br>
              <a:rPr lang="en-US" sz="2400" cap="none" spc="0" dirty="0">
                <a:solidFill>
                  <a:srgbClr val="000000">
                    <a:lumMod val="85000"/>
                    <a:lumOff val="15000"/>
                  </a:srgbClr>
                </a:solidFill>
                <a:ea typeface="+mn-ea"/>
                <a:cs typeface="+mn-cs"/>
              </a:rPr>
            </a:br>
            <a:endParaRPr lang="en-US" dirty="0"/>
          </a:p>
        </p:txBody>
      </p:sp>
      <p:sp>
        <p:nvSpPr>
          <p:cNvPr id="3" name="Content Placeholder 2">
            <a:extLst>
              <a:ext uri="{FF2B5EF4-FFF2-40B4-BE49-F238E27FC236}">
                <a16:creationId xmlns:a16="http://schemas.microsoft.com/office/drawing/2014/main" id="{46B7AEE6-930E-4D03-9618-67CD7D6EA722}"/>
              </a:ext>
            </a:extLst>
          </p:cNvPr>
          <p:cNvSpPr>
            <a:spLocks noGrp="1"/>
          </p:cNvSpPr>
          <p:nvPr>
            <p:ph idx="1"/>
          </p:nvPr>
        </p:nvSpPr>
        <p:spPr>
          <a:xfrm>
            <a:off x="2231136" y="2638045"/>
            <a:ext cx="7729728" cy="1046450"/>
          </a:xfrm>
        </p:spPr>
        <p:txBody>
          <a:bodyPr>
            <a:normAutofit/>
          </a:bodyPr>
          <a:lstStyle/>
          <a:p>
            <a:r>
              <a:rPr lang="en-US" sz="2400" dirty="0"/>
              <a:t>A function is a group of statements that exist within a program for the purpose of performing a specific task.</a:t>
            </a:r>
          </a:p>
          <a:p>
            <a:endParaRPr lang="en-US" sz="2400" dirty="0"/>
          </a:p>
        </p:txBody>
      </p:sp>
      <p:sp>
        <p:nvSpPr>
          <p:cNvPr id="4" name="Rectangle 3">
            <a:extLst>
              <a:ext uri="{FF2B5EF4-FFF2-40B4-BE49-F238E27FC236}">
                <a16:creationId xmlns:a16="http://schemas.microsoft.com/office/drawing/2014/main" id="{B4A8EBED-5EFD-4F39-A44A-48F0DAD55728}"/>
              </a:ext>
            </a:extLst>
          </p:cNvPr>
          <p:cNvSpPr/>
          <p:nvPr/>
        </p:nvSpPr>
        <p:spPr>
          <a:xfrm>
            <a:off x="2711823" y="3861983"/>
            <a:ext cx="6096000" cy="2031325"/>
          </a:xfrm>
          <a:prstGeom prst="rect">
            <a:avLst/>
          </a:prstGeom>
        </p:spPr>
        <p:txBody>
          <a:bodyPr>
            <a:spAutoFit/>
          </a:bodyPr>
          <a:lstStyle/>
          <a:p>
            <a:pPr marL="285750" indent="-285750">
              <a:buFont typeface="Arial" panose="020B0604020202020204" pitchFamily="34" charset="0"/>
              <a:buChar char="•"/>
            </a:pPr>
            <a:r>
              <a:rPr lang="en-US" dirty="0"/>
              <a:t>Getting the employee’s hourly pay rate </a:t>
            </a:r>
          </a:p>
          <a:p>
            <a:pPr marL="285750" indent="-285750">
              <a:buFont typeface="Arial" panose="020B0604020202020204" pitchFamily="34" charset="0"/>
              <a:buChar char="•"/>
            </a:pPr>
            <a:r>
              <a:rPr lang="en-US" dirty="0"/>
              <a:t>Getting the number of hours worked </a:t>
            </a:r>
          </a:p>
          <a:p>
            <a:pPr marL="285750" indent="-285750">
              <a:buFont typeface="Arial" panose="020B0604020202020204" pitchFamily="34" charset="0"/>
              <a:buChar char="•"/>
            </a:pPr>
            <a:r>
              <a:rPr lang="en-US" dirty="0"/>
              <a:t>Calculating the employee’s gross pay</a:t>
            </a:r>
          </a:p>
          <a:p>
            <a:pPr marL="285750" indent="-285750">
              <a:buFont typeface="Arial" panose="020B0604020202020204" pitchFamily="34" charset="0"/>
              <a:buChar char="•"/>
            </a:pPr>
            <a:r>
              <a:rPr lang="en-US" dirty="0"/>
              <a:t>Calculating overtime pay </a:t>
            </a:r>
          </a:p>
          <a:p>
            <a:pPr marL="285750" indent="-285750">
              <a:buFont typeface="Arial" panose="020B0604020202020204" pitchFamily="34" charset="0"/>
              <a:buChar char="•"/>
            </a:pPr>
            <a:r>
              <a:rPr lang="en-US" dirty="0"/>
              <a:t>Calculating withholdings for taxes and benefits </a:t>
            </a:r>
          </a:p>
          <a:p>
            <a:pPr marL="285750" indent="-285750">
              <a:buFont typeface="Arial" panose="020B0604020202020204" pitchFamily="34" charset="0"/>
              <a:buChar char="•"/>
            </a:pPr>
            <a:r>
              <a:rPr lang="en-US" dirty="0"/>
              <a:t>Calculating the net pay </a:t>
            </a:r>
          </a:p>
          <a:p>
            <a:pPr marL="285750" indent="-285750">
              <a:buFont typeface="Arial" panose="020B0604020202020204" pitchFamily="34" charset="0"/>
              <a:buChar char="•"/>
            </a:pPr>
            <a:r>
              <a:rPr lang="en-US" dirty="0"/>
              <a:t>Printing the paycheck</a:t>
            </a:r>
          </a:p>
        </p:txBody>
      </p:sp>
    </p:spTree>
    <p:extLst>
      <p:ext uri="{BB962C8B-B14F-4D97-AF65-F5344CB8AC3E}">
        <p14:creationId xmlns:p14="http://schemas.microsoft.com/office/powerpoint/2010/main" val="174830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09AD7D-72DF-474C-9389-E3235B8F80DD}"/>
              </a:ext>
            </a:extLst>
          </p:cNvPr>
          <p:cNvSpPr>
            <a:spLocks noGrp="1"/>
          </p:cNvSpPr>
          <p:nvPr>
            <p:ph idx="1"/>
          </p:nvPr>
        </p:nvSpPr>
        <p:spPr>
          <a:xfrm>
            <a:off x="267864" y="513409"/>
            <a:ext cx="5702630" cy="3507262"/>
          </a:xfrm>
        </p:spPr>
        <p:txBody>
          <a:bodyPr>
            <a:normAutofit/>
          </a:bodyPr>
          <a:lstStyle/>
          <a:p>
            <a:r>
              <a:rPr lang="en-US" dirty="0"/>
              <a:t>A function that gets the employee’s hourly pay rate</a:t>
            </a:r>
          </a:p>
          <a:p>
            <a:r>
              <a:rPr lang="en-US" dirty="0"/>
              <a:t>A function that gets the number of hours worked </a:t>
            </a:r>
          </a:p>
          <a:p>
            <a:r>
              <a:rPr lang="en-US" dirty="0"/>
              <a:t>A function that calculates the employee’s gross pay</a:t>
            </a:r>
          </a:p>
          <a:p>
            <a:r>
              <a:rPr lang="en-US" dirty="0"/>
              <a:t>A function that calculates the overtime pay</a:t>
            </a:r>
          </a:p>
          <a:p>
            <a:r>
              <a:rPr lang="en-US" dirty="0"/>
              <a:t>A function that calculates the withholdings for taxes and </a:t>
            </a:r>
          </a:p>
          <a:p>
            <a:pPr marL="0" indent="0">
              <a:buNone/>
            </a:pPr>
            <a:r>
              <a:rPr lang="en-US" dirty="0"/>
              <a:t>benefits</a:t>
            </a:r>
          </a:p>
          <a:p>
            <a:r>
              <a:rPr lang="en-US" dirty="0"/>
              <a:t>A function that calculates the net pay</a:t>
            </a:r>
          </a:p>
          <a:p>
            <a:r>
              <a:rPr lang="en-US" dirty="0"/>
              <a:t>A function that prints the paycheck</a:t>
            </a:r>
          </a:p>
        </p:txBody>
      </p:sp>
      <p:pic>
        <p:nvPicPr>
          <p:cNvPr id="4" name="Picture 3">
            <a:extLst>
              <a:ext uri="{FF2B5EF4-FFF2-40B4-BE49-F238E27FC236}">
                <a16:creationId xmlns:a16="http://schemas.microsoft.com/office/drawing/2014/main" id="{D213F9F0-2F9C-4458-9082-C654AC7A47FC}"/>
              </a:ext>
            </a:extLst>
          </p:cNvPr>
          <p:cNvPicPr>
            <a:picLocks noChangeAspect="1"/>
          </p:cNvPicPr>
          <p:nvPr/>
        </p:nvPicPr>
        <p:blipFill>
          <a:blip r:embed="rId2"/>
          <a:stretch>
            <a:fillRect/>
          </a:stretch>
        </p:blipFill>
        <p:spPr>
          <a:xfrm>
            <a:off x="5970495" y="1809840"/>
            <a:ext cx="5953642" cy="4728566"/>
          </a:xfrm>
          <a:prstGeom prst="rect">
            <a:avLst/>
          </a:prstGeom>
        </p:spPr>
      </p:pic>
    </p:spTree>
    <p:extLst>
      <p:ext uri="{BB962C8B-B14F-4D97-AF65-F5344CB8AC3E}">
        <p14:creationId xmlns:p14="http://schemas.microsoft.com/office/powerpoint/2010/main" val="1234675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D3955-E229-47BC-AEE5-C7371D07B2D4}"/>
              </a:ext>
            </a:extLst>
          </p:cNvPr>
          <p:cNvSpPr>
            <a:spLocks noGrp="1"/>
          </p:cNvSpPr>
          <p:nvPr>
            <p:ph type="title"/>
          </p:nvPr>
        </p:nvSpPr>
        <p:spPr>
          <a:xfrm>
            <a:off x="1693252" y="373022"/>
            <a:ext cx="8311359" cy="1188720"/>
          </a:xfrm>
        </p:spPr>
        <p:txBody>
          <a:bodyPr>
            <a:normAutofit fontScale="90000"/>
          </a:bodyPr>
          <a:lstStyle/>
          <a:p>
            <a:r>
              <a:rPr lang="en-US" dirty="0"/>
              <a:t>Function calls and parameter passing in </a:t>
            </a:r>
            <a:br>
              <a:rPr lang="en-US" dirty="0"/>
            </a:br>
            <a:r>
              <a:rPr lang="en-US" dirty="0"/>
              <a:t>Python</a:t>
            </a:r>
          </a:p>
        </p:txBody>
      </p:sp>
      <p:sp>
        <p:nvSpPr>
          <p:cNvPr id="3" name="Content Placeholder 2">
            <a:extLst>
              <a:ext uri="{FF2B5EF4-FFF2-40B4-BE49-F238E27FC236}">
                <a16:creationId xmlns:a16="http://schemas.microsoft.com/office/drawing/2014/main" id="{4D6B8F94-BA31-4CBF-8FB5-CCEB163A771E}"/>
              </a:ext>
            </a:extLst>
          </p:cNvPr>
          <p:cNvSpPr>
            <a:spLocks noGrp="1"/>
          </p:cNvSpPr>
          <p:nvPr>
            <p:ph idx="1"/>
          </p:nvPr>
        </p:nvSpPr>
        <p:spPr>
          <a:xfrm>
            <a:off x="1693253" y="2006034"/>
            <a:ext cx="7729728" cy="2095320"/>
          </a:xfrm>
        </p:spPr>
        <p:txBody>
          <a:bodyPr>
            <a:normAutofit/>
          </a:bodyPr>
          <a:lstStyle/>
          <a:p>
            <a:r>
              <a:rPr lang="en-US" sz="2000" dirty="0"/>
              <a:t>The code for a function is known as a function definition. To execute the function, you write a statement that calls it.</a:t>
            </a:r>
          </a:p>
          <a:p>
            <a:r>
              <a:rPr lang="en-US" sz="2000" dirty="0"/>
              <a:t>Defining and Calling a Function</a:t>
            </a:r>
          </a:p>
          <a:p>
            <a:r>
              <a:rPr lang="en-US" sz="2000" dirty="0"/>
              <a:t>To create a function, you write its definition. Here is the general format of a function definition in Python:</a:t>
            </a:r>
          </a:p>
        </p:txBody>
      </p:sp>
      <p:sp>
        <p:nvSpPr>
          <p:cNvPr id="4" name="Rectangle 3">
            <a:extLst>
              <a:ext uri="{FF2B5EF4-FFF2-40B4-BE49-F238E27FC236}">
                <a16:creationId xmlns:a16="http://schemas.microsoft.com/office/drawing/2014/main" id="{53E67070-61C7-4A94-98B1-F7B13FB9176A}"/>
              </a:ext>
            </a:extLst>
          </p:cNvPr>
          <p:cNvSpPr/>
          <p:nvPr/>
        </p:nvSpPr>
        <p:spPr>
          <a:xfrm>
            <a:off x="2156012" y="4101354"/>
            <a:ext cx="6096000" cy="1569660"/>
          </a:xfrm>
          <a:prstGeom prst="rect">
            <a:avLst/>
          </a:prstGeom>
          <a:solidFill>
            <a:schemeClr val="accent1">
              <a:lumMod val="40000"/>
              <a:lumOff val="60000"/>
            </a:schemeClr>
          </a:solidFill>
        </p:spPr>
        <p:txBody>
          <a:bodyPr>
            <a:spAutoFit/>
          </a:bodyPr>
          <a:lstStyle/>
          <a:p>
            <a:r>
              <a:rPr lang="en-US" sz="2400" dirty="0"/>
              <a:t>def </a:t>
            </a:r>
            <a:r>
              <a:rPr lang="en-US" sz="2400" dirty="0" err="1"/>
              <a:t>function_name</a:t>
            </a:r>
            <a:r>
              <a:rPr lang="en-US" sz="2400" dirty="0"/>
              <a:t>():</a:t>
            </a:r>
          </a:p>
          <a:p>
            <a:r>
              <a:rPr lang="en-US" sz="2400" dirty="0"/>
              <a:t>statement</a:t>
            </a:r>
          </a:p>
          <a:p>
            <a:r>
              <a:rPr lang="en-US" sz="2400" dirty="0"/>
              <a:t>statement</a:t>
            </a:r>
          </a:p>
          <a:p>
            <a:r>
              <a:rPr lang="en-US" sz="2400" dirty="0"/>
              <a:t>etc.</a:t>
            </a:r>
          </a:p>
        </p:txBody>
      </p:sp>
    </p:spTree>
    <p:extLst>
      <p:ext uri="{BB962C8B-B14F-4D97-AF65-F5344CB8AC3E}">
        <p14:creationId xmlns:p14="http://schemas.microsoft.com/office/powerpoint/2010/main" val="3807046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567A37-956C-4E96-9E80-178EE378FE26}"/>
              </a:ext>
            </a:extLst>
          </p:cNvPr>
          <p:cNvSpPr>
            <a:spLocks noGrp="1"/>
          </p:cNvSpPr>
          <p:nvPr>
            <p:ph idx="1"/>
          </p:nvPr>
        </p:nvSpPr>
        <p:spPr>
          <a:xfrm>
            <a:off x="994006" y="876481"/>
            <a:ext cx="3416629" cy="1449861"/>
          </a:xfrm>
          <a:solidFill>
            <a:schemeClr val="accent2">
              <a:lumMod val="60000"/>
              <a:lumOff val="40000"/>
            </a:schemeClr>
          </a:solidFill>
        </p:spPr>
        <p:txBody>
          <a:bodyPr>
            <a:normAutofit/>
          </a:bodyPr>
          <a:lstStyle/>
          <a:p>
            <a:pPr marL="0" indent="0">
              <a:buNone/>
            </a:pPr>
            <a:r>
              <a:rPr lang="en-US" sz="2000" dirty="0"/>
              <a:t>def message():</a:t>
            </a:r>
          </a:p>
          <a:p>
            <a:pPr marL="0" indent="0">
              <a:buNone/>
            </a:pPr>
            <a:r>
              <a:rPr lang="en-US" sz="2000" dirty="0"/>
              <a:t>print('I am Arthur,')</a:t>
            </a:r>
          </a:p>
          <a:p>
            <a:pPr marL="0" indent="0">
              <a:buNone/>
            </a:pPr>
            <a:r>
              <a:rPr lang="en-US" sz="2000" dirty="0"/>
              <a:t>print('King of the Britons.')</a:t>
            </a:r>
          </a:p>
        </p:txBody>
      </p:sp>
      <p:sp>
        <p:nvSpPr>
          <p:cNvPr id="4" name="Rectangle 3">
            <a:extLst>
              <a:ext uri="{FF2B5EF4-FFF2-40B4-BE49-F238E27FC236}">
                <a16:creationId xmlns:a16="http://schemas.microsoft.com/office/drawing/2014/main" id="{67089D9A-B198-408B-B218-DEA6FC19F240}"/>
              </a:ext>
            </a:extLst>
          </p:cNvPr>
          <p:cNvSpPr/>
          <p:nvPr/>
        </p:nvSpPr>
        <p:spPr>
          <a:xfrm>
            <a:off x="4849906" y="876481"/>
            <a:ext cx="6096000" cy="3785652"/>
          </a:xfrm>
          <a:prstGeom prst="rect">
            <a:avLst/>
          </a:prstGeom>
          <a:solidFill>
            <a:schemeClr val="accent3">
              <a:lumMod val="20000"/>
              <a:lumOff val="80000"/>
            </a:schemeClr>
          </a:solidFill>
        </p:spPr>
        <p:txBody>
          <a:bodyPr>
            <a:spAutoFit/>
          </a:bodyPr>
          <a:lstStyle/>
          <a:p>
            <a:r>
              <a:rPr lang="en-US" sz="2000" dirty="0"/>
              <a:t> 1 # This program demonstrates a function.</a:t>
            </a:r>
          </a:p>
          <a:p>
            <a:r>
              <a:rPr lang="en-US" sz="2000" dirty="0"/>
              <a:t> 2 # First, we define a function named message.</a:t>
            </a:r>
          </a:p>
          <a:p>
            <a:r>
              <a:rPr lang="en-US" sz="2000" dirty="0"/>
              <a:t> 3 def message():</a:t>
            </a:r>
          </a:p>
          <a:p>
            <a:r>
              <a:rPr lang="en-US" sz="2000" dirty="0"/>
              <a:t> 4 print('I am Arthur,')</a:t>
            </a:r>
          </a:p>
          <a:p>
            <a:r>
              <a:rPr lang="en-US" sz="2000" dirty="0"/>
              <a:t> 5 print('King of the Britons.')</a:t>
            </a:r>
          </a:p>
          <a:p>
            <a:r>
              <a:rPr lang="en-US" sz="2000" dirty="0"/>
              <a:t> 6</a:t>
            </a:r>
          </a:p>
          <a:p>
            <a:r>
              <a:rPr lang="en-US" sz="2000" dirty="0"/>
              <a:t> 7 # Call the message function.</a:t>
            </a:r>
          </a:p>
          <a:p>
            <a:r>
              <a:rPr lang="en-US" sz="2000" dirty="0"/>
              <a:t> 8 message()</a:t>
            </a:r>
          </a:p>
          <a:p>
            <a:endParaRPr lang="en-US" sz="2000" dirty="0"/>
          </a:p>
          <a:p>
            <a:r>
              <a:rPr lang="en-US" sz="2000" b="1" dirty="0"/>
              <a:t>Program Output</a:t>
            </a:r>
          </a:p>
          <a:p>
            <a:r>
              <a:rPr lang="en-US" sz="2000" b="1" dirty="0"/>
              <a:t>I am Arthur,</a:t>
            </a:r>
          </a:p>
          <a:p>
            <a:r>
              <a:rPr lang="en-US" sz="2000" b="1" dirty="0"/>
              <a:t>King of the Britons.</a:t>
            </a:r>
          </a:p>
        </p:txBody>
      </p:sp>
    </p:spTree>
    <p:extLst>
      <p:ext uri="{BB962C8B-B14F-4D97-AF65-F5344CB8AC3E}">
        <p14:creationId xmlns:p14="http://schemas.microsoft.com/office/powerpoint/2010/main" val="22279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91002C-A0AD-4654-B889-106F2736EC84}"/>
              </a:ext>
            </a:extLst>
          </p:cNvPr>
          <p:cNvSpPr>
            <a:spLocks noGrp="1"/>
          </p:cNvSpPr>
          <p:nvPr>
            <p:ph idx="1"/>
          </p:nvPr>
        </p:nvSpPr>
        <p:spPr>
          <a:xfrm>
            <a:off x="926771" y="567196"/>
            <a:ext cx="5823653" cy="5510876"/>
          </a:xfrm>
          <a:solidFill>
            <a:schemeClr val="accent6">
              <a:lumMod val="40000"/>
              <a:lumOff val="60000"/>
            </a:schemeClr>
          </a:solidFill>
        </p:spPr>
        <p:txBody>
          <a:bodyPr>
            <a:normAutofit fontScale="92500" lnSpcReduction="10000"/>
          </a:bodyPr>
          <a:lstStyle/>
          <a:p>
            <a:pPr marL="0" indent="0">
              <a:buNone/>
            </a:pPr>
            <a:r>
              <a:rPr lang="en-US" sz="2000" dirty="0"/>
              <a:t>1 # This program has two functions. First we</a:t>
            </a:r>
          </a:p>
          <a:p>
            <a:pPr marL="0" indent="0">
              <a:buNone/>
            </a:pPr>
            <a:r>
              <a:rPr lang="en-US" sz="2000" dirty="0"/>
              <a:t>2 # define the main function.</a:t>
            </a:r>
          </a:p>
          <a:p>
            <a:pPr marL="0" indent="0">
              <a:buNone/>
            </a:pPr>
            <a:r>
              <a:rPr lang="en-US" sz="2000" dirty="0"/>
              <a:t>3 def main():</a:t>
            </a:r>
          </a:p>
          <a:p>
            <a:pPr marL="0" indent="0">
              <a:buNone/>
            </a:pPr>
            <a:r>
              <a:rPr lang="en-US" sz="2000" dirty="0"/>
              <a:t>4 print('I have a message for you.')</a:t>
            </a:r>
          </a:p>
          <a:p>
            <a:pPr marL="0" indent="0">
              <a:buNone/>
            </a:pPr>
            <a:r>
              <a:rPr lang="en-US" sz="2000" dirty="0"/>
              <a:t>5 message()</a:t>
            </a:r>
          </a:p>
          <a:p>
            <a:pPr marL="0" indent="0">
              <a:buNone/>
            </a:pPr>
            <a:r>
              <a:rPr lang="en-US" sz="2000" dirty="0"/>
              <a:t>6 print('Goodbye!')</a:t>
            </a:r>
          </a:p>
          <a:p>
            <a:pPr marL="0" indent="0">
              <a:buNone/>
            </a:pPr>
            <a:r>
              <a:rPr lang="en-US" sz="2000" dirty="0"/>
              <a:t>7</a:t>
            </a:r>
          </a:p>
          <a:p>
            <a:pPr marL="0" indent="0">
              <a:buNone/>
            </a:pPr>
            <a:r>
              <a:rPr lang="en-US" sz="2000" dirty="0"/>
              <a:t>8 # Next we define the message function.</a:t>
            </a:r>
          </a:p>
          <a:p>
            <a:pPr marL="0" indent="0">
              <a:buNone/>
            </a:pPr>
            <a:r>
              <a:rPr lang="en-US" sz="2000" dirty="0"/>
              <a:t>9 def message():</a:t>
            </a:r>
          </a:p>
          <a:p>
            <a:pPr marL="0" indent="0">
              <a:buNone/>
            </a:pPr>
            <a:r>
              <a:rPr lang="en-US" sz="2000" dirty="0"/>
              <a:t>10 print('I am Arthur,')</a:t>
            </a:r>
          </a:p>
          <a:p>
            <a:pPr marL="0" indent="0">
              <a:buNone/>
            </a:pPr>
            <a:r>
              <a:rPr lang="en-US" sz="2000" dirty="0"/>
              <a:t>11 print('King of the Britons.')</a:t>
            </a:r>
          </a:p>
          <a:p>
            <a:pPr marL="0" indent="0">
              <a:buNone/>
            </a:pPr>
            <a:r>
              <a:rPr lang="en-US" sz="2000" dirty="0"/>
              <a:t>12</a:t>
            </a:r>
          </a:p>
          <a:p>
            <a:pPr marL="0" indent="0">
              <a:buNone/>
            </a:pPr>
            <a:r>
              <a:rPr lang="en-US" sz="2000" dirty="0"/>
              <a:t>13 # Call the main function.</a:t>
            </a:r>
          </a:p>
          <a:p>
            <a:pPr marL="0" indent="0">
              <a:buNone/>
            </a:pPr>
            <a:r>
              <a:rPr lang="en-US" sz="2000" dirty="0"/>
              <a:t>14 main()</a:t>
            </a:r>
          </a:p>
        </p:txBody>
      </p:sp>
      <p:sp>
        <p:nvSpPr>
          <p:cNvPr id="4" name="Rectangle 3">
            <a:extLst>
              <a:ext uri="{FF2B5EF4-FFF2-40B4-BE49-F238E27FC236}">
                <a16:creationId xmlns:a16="http://schemas.microsoft.com/office/drawing/2014/main" id="{8E7E1F54-C6DB-430A-BD4A-A19307BD1A2C}"/>
              </a:ext>
            </a:extLst>
          </p:cNvPr>
          <p:cNvSpPr/>
          <p:nvPr/>
        </p:nvSpPr>
        <p:spPr>
          <a:xfrm>
            <a:off x="6898341" y="2972723"/>
            <a:ext cx="3455893" cy="1631216"/>
          </a:xfrm>
          <a:prstGeom prst="rect">
            <a:avLst/>
          </a:prstGeom>
          <a:solidFill>
            <a:schemeClr val="accent2">
              <a:lumMod val="60000"/>
              <a:lumOff val="40000"/>
            </a:schemeClr>
          </a:solidFill>
        </p:spPr>
        <p:txBody>
          <a:bodyPr wrap="square">
            <a:spAutoFit/>
          </a:bodyPr>
          <a:lstStyle/>
          <a:p>
            <a:r>
              <a:rPr lang="en-US" sz="2000" b="1" dirty="0"/>
              <a:t>Program Output</a:t>
            </a:r>
          </a:p>
          <a:p>
            <a:r>
              <a:rPr lang="en-US" sz="2000" b="1" dirty="0"/>
              <a:t>I have a message for you.</a:t>
            </a:r>
          </a:p>
          <a:p>
            <a:r>
              <a:rPr lang="en-US" sz="2000" b="1" dirty="0"/>
              <a:t>I am Arthur,</a:t>
            </a:r>
          </a:p>
          <a:p>
            <a:r>
              <a:rPr lang="en-US" sz="2000" b="1" dirty="0"/>
              <a:t>King of the Britons.</a:t>
            </a:r>
          </a:p>
          <a:p>
            <a:r>
              <a:rPr lang="en-US" sz="2000" b="1" dirty="0"/>
              <a:t>Goodbye!</a:t>
            </a:r>
          </a:p>
        </p:txBody>
      </p:sp>
    </p:spTree>
    <p:extLst>
      <p:ext uri="{BB962C8B-B14F-4D97-AF65-F5344CB8AC3E}">
        <p14:creationId xmlns:p14="http://schemas.microsoft.com/office/powerpoint/2010/main" val="340388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1C219E-DE4F-4805-9843-973585364D66}"/>
              </a:ext>
            </a:extLst>
          </p:cNvPr>
          <p:cNvSpPr>
            <a:spLocks noGrp="1"/>
          </p:cNvSpPr>
          <p:nvPr>
            <p:ph idx="1"/>
          </p:nvPr>
        </p:nvSpPr>
        <p:spPr>
          <a:xfrm>
            <a:off x="182700" y="215154"/>
            <a:ext cx="4573076" cy="6409959"/>
          </a:xfrm>
          <a:solidFill>
            <a:schemeClr val="accent2">
              <a:lumMod val="40000"/>
              <a:lumOff val="60000"/>
            </a:schemeClr>
          </a:solidFill>
        </p:spPr>
        <p:txBody>
          <a:bodyPr>
            <a:noAutofit/>
          </a:bodyPr>
          <a:lstStyle/>
          <a:p>
            <a:pPr marL="0" indent="0">
              <a:buNone/>
            </a:pPr>
            <a:r>
              <a:rPr lang="en-US" sz="1400" dirty="0"/>
              <a:t>1 # This program displays step-by-step instructions</a:t>
            </a:r>
          </a:p>
          <a:p>
            <a:pPr marL="0" indent="0">
              <a:buNone/>
            </a:pPr>
            <a:r>
              <a:rPr lang="en-US" sz="1400" dirty="0"/>
              <a:t>2 # for disassembling an Acme dryer.</a:t>
            </a:r>
          </a:p>
          <a:p>
            <a:pPr marL="0" indent="0">
              <a:buNone/>
            </a:pPr>
            <a:r>
              <a:rPr lang="en-US" sz="1400" dirty="0"/>
              <a:t>3 # The main function performs the program's main logic.</a:t>
            </a:r>
          </a:p>
          <a:p>
            <a:pPr marL="0" indent="0">
              <a:buNone/>
            </a:pPr>
            <a:r>
              <a:rPr lang="en-US" sz="1400" dirty="0"/>
              <a:t>4 def main():</a:t>
            </a:r>
          </a:p>
          <a:p>
            <a:pPr marL="0" indent="0">
              <a:buNone/>
            </a:pPr>
            <a:r>
              <a:rPr lang="en-US" sz="1400" dirty="0"/>
              <a:t>5 # Display the start-up message.</a:t>
            </a:r>
          </a:p>
          <a:p>
            <a:pPr marL="0" indent="0">
              <a:buNone/>
            </a:pPr>
            <a:r>
              <a:rPr lang="en-US" sz="1400" dirty="0"/>
              <a:t>6 </a:t>
            </a:r>
            <a:r>
              <a:rPr lang="en-US" sz="1400" dirty="0" err="1"/>
              <a:t>startup_message</a:t>
            </a:r>
            <a:r>
              <a:rPr lang="en-US" sz="1400" dirty="0"/>
              <a:t>()</a:t>
            </a:r>
          </a:p>
          <a:p>
            <a:pPr marL="0" indent="0">
              <a:buNone/>
            </a:pPr>
            <a:r>
              <a:rPr lang="en-US" sz="1400" dirty="0"/>
              <a:t>7 input('Press Enter to see Step 1.')</a:t>
            </a:r>
          </a:p>
          <a:p>
            <a:pPr marL="0" indent="0">
              <a:buNone/>
            </a:pPr>
            <a:r>
              <a:rPr lang="en-US" sz="1400" dirty="0"/>
              <a:t>8 # Display step 1.</a:t>
            </a:r>
          </a:p>
          <a:p>
            <a:pPr marL="0" indent="0">
              <a:buNone/>
            </a:pPr>
            <a:r>
              <a:rPr lang="en-US" sz="1400" dirty="0"/>
              <a:t>9 step1()</a:t>
            </a:r>
          </a:p>
          <a:p>
            <a:pPr marL="0" indent="0">
              <a:buNone/>
            </a:pPr>
            <a:r>
              <a:rPr lang="en-US" sz="1400" dirty="0"/>
              <a:t>10 input('Press Enter to see Step 2.')</a:t>
            </a:r>
          </a:p>
          <a:p>
            <a:pPr marL="0" indent="0">
              <a:buNone/>
            </a:pPr>
            <a:r>
              <a:rPr lang="en-US" sz="1400" dirty="0"/>
              <a:t>11 # Display step 2.</a:t>
            </a:r>
          </a:p>
          <a:p>
            <a:pPr marL="0" indent="0">
              <a:buNone/>
            </a:pPr>
            <a:r>
              <a:rPr lang="en-US" sz="1400" dirty="0"/>
              <a:t>12 step2()</a:t>
            </a:r>
          </a:p>
          <a:p>
            <a:pPr marL="0" indent="0">
              <a:buNone/>
            </a:pPr>
            <a:r>
              <a:rPr lang="en-US" sz="1400" dirty="0"/>
              <a:t>13 input('Press Enter to see Step 3.')</a:t>
            </a:r>
          </a:p>
          <a:p>
            <a:pPr marL="0" indent="0">
              <a:buNone/>
            </a:pPr>
            <a:r>
              <a:rPr lang="en-US" sz="1400" dirty="0"/>
              <a:t>14 # Display step 3.</a:t>
            </a:r>
          </a:p>
          <a:p>
            <a:pPr marL="0" indent="0">
              <a:buNone/>
            </a:pPr>
            <a:r>
              <a:rPr lang="en-US" sz="1400" dirty="0"/>
              <a:t>15 step3()</a:t>
            </a:r>
          </a:p>
          <a:p>
            <a:pPr marL="0" indent="0">
              <a:buNone/>
            </a:pPr>
            <a:r>
              <a:rPr lang="en-US" sz="1400" dirty="0"/>
              <a:t>16 input('Press Enter to see Step 4.')</a:t>
            </a:r>
          </a:p>
          <a:p>
            <a:pPr marL="0" indent="0">
              <a:buNone/>
            </a:pPr>
            <a:r>
              <a:rPr lang="en-US" sz="1400" dirty="0"/>
              <a:t>17 # Display step 4.</a:t>
            </a:r>
          </a:p>
          <a:p>
            <a:pPr marL="0" indent="0">
              <a:buNone/>
            </a:pPr>
            <a:r>
              <a:rPr lang="en-US" sz="1400" dirty="0"/>
              <a:t>18 step4()</a:t>
            </a:r>
          </a:p>
          <a:p>
            <a:pPr marL="0" indent="0">
              <a:buNone/>
            </a:pPr>
            <a:r>
              <a:rPr lang="en-US" sz="1400" dirty="0"/>
              <a:t>19</a:t>
            </a:r>
          </a:p>
        </p:txBody>
      </p:sp>
      <p:sp>
        <p:nvSpPr>
          <p:cNvPr id="4" name="Rectangle 3">
            <a:extLst>
              <a:ext uri="{FF2B5EF4-FFF2-40B4-BE49-F238E27FC236}">
                <a16:creationId xmlns:a16="http://schemas.microsoft.com/office/drawing/2014/main" id="{4B1522E3-129D-4B28-AC99-ECF0F401CEC6}"/>
              </a:ext>
            </a:extLst>
          </p:cNvPr>
          <p:cNvSpPr/>
          <p:nvPr/>
        </p:nvSpPr>
        <p:spPr>
          <a:xfrm>
            <a:off x="3249708" y="1258265"/>
            <a:ext cx="4186518" cy="5693866"/>
          </a:xfrm>
          <a:prstGeom prst="rect">
            <a:avLst/>
          </a:prstGeom>
          <a:solidFill>
            <a:schemeClr val="accent1">
              <a:lumMod val="60000"/>
              <a:lumOff val="40000"/>
            </a:schemeClr>
          </a:solidFill>
        </p:spPr>
        <p:txBody>
          <a:bodyPr wrap="square">
            <a:spAutoFit/>
          </a:bodyPr>
          <a:lstStyle/>
          <a:p>
            <a:r>
              <a:rPr lang="en-US" sz="1600" dirty="0"/>
              <a:t>20 # The </a:t>
            </a:r>
            <a:r>
              <a:rPr lang="en-US" sz="1600" dirty="0" err="1"/>
              <a:t>startup_message</a:t>
            </a:r>
            <a:r>
              <a:rPr lang="en-US" sz="1600" dirty="0"/>
              <a:t> function displays the</a:t>
            </a:r>
          </a:p>
          <a:p>
            <a:r>
              <a:rPr lang="en-US" sz="1600" dirty="0"/>
              <a:t>21 # program's initial message on the screen.</a:t>
            </a:r>
          </a:p>
          <a:p>
            <a:r>
              <a:rPr lang="en-US" sz="1600" dirty="0"/>
              <a:t>22 def </a:t>
            </a:r>
            <a:r>
              <a:rPr lang="en-US" sz="1600" dirty="0" err="1"/>
              <a:t>startup_message</a:t>
            </a:r>
            <a:r>
              <a:rPr lang="en-US" sz="1600" dirty="0"/>
              <a:t>():</a:t>
            </a:r>
          </a:p>
          <a:p>
            <a:r>
              <a:rPr lang="en-US" sz="1600" dirty="0"/>
              <a:t>23 print('This program tells you how to')</a:t>
            </a:r>
          </a:p>
          <a:p>
            <a:r>
              <a:rPr lang="en-US" sz="1600" dirty="0"/>
              <a:t>24 print('disassemble an ACME laundry dryer.')</a:t>
            </a:r>
          </a:p>
          <a:p>
            <a:r>
              <a:rPr lang="en-US" sz="1600" dirty="0"/>
              <a:t>25 print('There are 4 steps in the process.')</a:t>
            </a:r>
          </a:p>
          <a:p>
            <a:r>
              <a:rPr lang="en-US" sz="1600" dirty="0"/>
              <a:t>26 print()</a:t>
            </a:r>
          </a:p>
          <a:p>
            <a:r>
              <a:rPr lang="en-US" sz="1600" dirty="0"/>
              <a:t>27</a:t>
            </a:r>
          </a:p>
          <a:p>
            <a:r>
              <a:rPr lang="en-US" sz="1600" dirty="0"/>
              <a:t>28 # The step1 function displays the instructions</a:t>
            </a:r>
          </a:p>
          <a:p>
            <a:r>
              <a:rPr lang="en-US" sz="1600" dirty="0"/>
              <a:t>29 # for step 1.</a:t>
            </a:r>
          </a:p>
          <a:p>
            <a:r>
              <a:rPr lang="en-US" sz="1600" dirty="0"/>
              <a:t>30 def step1():</a:t>
            </a:r>
          </a:p>
          <a:p>
            <a:r>
              <a:rPr lang="en-US" sz="1600" dirty="0"/>
              <a:t>31 print('Step 1: Unplug the dryer and')</a:t>
            </a:r>
          </a:p>
          <a:p>
            <a:r>
              <a:rPr lang="en-US" sz="1600" dirty="0"/>
              <a:t>32 print('move it away from the wall.')</a:t>
            </a:r>
          </a:p>
          <a:p>
            <a:r>
              <a:rPr lang="en-US" sz="1600" dirty="0"/>
              <a:t>33 print()</a:t>
            </a:r>
          </a:p>
          <a:p>
            <a:r>
              <a:rPr lang="en-US" sz="1600" dirty="0"/>
              <a:t>34</a:t>
            </a:r>
          </a:p>
          <a:p>
            <a:r>
              <a:rPr lang="en-US" sz="1600" dirty="0"/>
              <a:t>35 # The step2 function displays the instructions</a:t>
            </a:r>
          </a:p>
          <a:p>
            <a:r>
              <a:rPr lang="en-US" sz="1600" dirty="0"/>
              <a:t>36 # for step 2.</a:t>
            </a:r>
          </a:p>
          <a:p>
            <a:r>
              <a:rPr lang="en-US" sz="1600" dirty="0"/>
              <a:t>37 def step2():</a:t>
            </a:r>
          </a:p>
          <a:p>
            <a:r>
              <a:rPr lang="en-US" sz="1600" dirty="0"/>
              <a:t>38 print('Step 2: Remove the six screws')</a:t>
            </a:r>
          </a:p>
          <a:p>
            <a:r>
              <a:rPr lang="en-US" sz="1600" dirty="0"/>
              <a:t>39 print('from the back of the dryer.')</a:t>
            </a:r>
          </a:p>
          <a:p>
            <a:r>
              <a:rPr lang="en-US" sz="1600" dirty="0"/>
              <a:t>40 print()</a:t>
            </a:r>
          </a:p>
          <a:p>
            <a:r>
              <a:rPr lang="en-US" sz="1600" dirty="0"/>
              <a:t>41</a:t>
            </a:r>
          </a:p>
        </p:txBody>
      </p:sp>
      <p:sp>
        <p:nvSpPr>
          <p:cNvPr id="5" name="Rectangle 4">
            <a:extLst>
              <a:ext uri="{FF2B5EF4-FFF2-40B4-BE49-F238E27FC236}">
                <a16:creationId xmlns:a16="http://schemas.microsoft.com/office/drawing/2014/main" id="{BD03C925-0810-4061-9FB7-B4C26B4292A6}"/>
              </a:ext>
            </a:extLst>
          </p:cNvPr>
          <p:cNvSpPr/>
          <p:nvPr/>
        </p:nvSpPr>
        <p:spPr>
          <a:xfrm>
            <a:off x="7436226" y="1748118"/>
            <a:ext cx="4679579" cy="4524315"/>
          </a:xfrm>
          <a:prstGeom prst="rect">
            <a:avLst/>
          </a:prstGeom>
          <a:solidFill>
            <a:schemeClr val="bg2">
              <a:lumMod val="90000"/>
            </a:schemeClr>
          </a:solidFill>
        </p:spPr>
        <p:txBody>
          <a:bodyPr wrap="square">
            <a:spAutoFit/>
          </a:bodyPr>
          <a:lstStyle/>
          <a:p>
            <a:r>
              <a:rPr lang="en-US" dirty="0"/>
              <a:t>42 # The step3 function displays the instructions</a:t>
            </a:r>
          </a:p>
          <a:p>
            <a:r>
              <a:rPr lang="en-US" dirty="0"/>
              <a:t>43 # for step 3.</a:t>
            </a:r>
          </a:p>
          <a:p>
            <a:r>
              <a:rPr lang="en-US" dirty="0"/>
              <a:t>44 def step3():</a:t>
            </a:r>
          </a:p>
          <a:p>
            <a:r>
              <a:rPr lang="en-US" dirty="0"/>
              <a:t>45 print('Step 3: Remove the back panel')</a:t>
            </a:r>
          </a:p>
          <a:p>
            <a:r>
              <a:rPr lang="en-US" dirty="0"/>
              <a:t>46 print('from the dryer.')</a:t>
            </a:r>
          </a:p>
          <a:p>
            <a:r>
              <a:rPr lang="en-US" dirty="0"/>
              <a:t>47 print()</a:t>
            </a:r>
          </a:p>
          <a:p>
            <a:r>
              <a:rPr lang="en-US" dirty="0"/>
              <a:t>48</a:t>
            </a:r>
          </a:p>
          <a:p>
            <a:r>
              <a:rPr lang="en-US" dirty="0"/>
              <a:t>49 # The step4 function displays the instructions</a:t>
            </a:r>
          </a:p>
          <a:p>
            <a:r>
              <a:rPr lang="en-US" dirty="0"/>
              <a:t>50 # for step 4.</a:t>
            </a:r>
          </a:p>
          <a:p>
            <a:r>
              <a:rPr lang="en-US" dirty="0"/>
              <a:t>51 def step4():</a:t>
            </a:r>
          </a:p>
          <a:p>
            <a:r>
              <a:rPr lang="en-US" dirty="0"/>
              <a:t>52 print('Step 4: Pull the top of the')</a:t>
            </a:r>
          </a:p>
          <a:p>
            <a:r>
              <a:rPr lang="en-US" dirty="0"/>
              <a:t>53 print('dryer straight up.')</a:t>
            </a:r>
          </a:p>
          <a:p>
            <a:r>
              <a:rPr lang="en-US" dirty="0"/>
              <a:t>54</a:t>
            </a:r>
          </a:p>
          <a:p>
            <a:r>
              <a:rPr lang="en-US" dirty="0"/>
              <a:t>55 # Call the main function to begin the program.</a:t>
            </a:r>
          </a:p>
          <a:p>
            <a:r>
              <a:rPr lang="en-US" dirty="0"/>
              <a:t>56 main()</a:t>
            </a:r>
          </a:p>
        </p:txBody>
      </p:sp>
    </p:spTree>
    <p:extLst>
      <p:ext uri="{BB962C8B-B14F-4D97-AF65-F5344CB8AC3E}">
        <p14:creationId xmlns:p14="http://schemas.microsoft.com/office/powerpoint/2010/main" val="2257360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832346-5CA2-4869-9E61-B2545AB9B4CC}"/>
              </a:ext>
            </a:extLst>
          </p:cNvPr>
          <p:cNvSpPr>
            <a:spLocks noGrp="1"/>
          </p:cNvSpPr>
          <p:nvPr>
            <p:ph idx="1"/>
          </p:nvPr>
        </p:nvSpPr>
        <p:spPr>
          <a:xfrm>
            <a:off x="2931459" y="437029"/>
            <a:ext cx="5311589" cy="5983941"/>
          </a:xfrm>
          <a:solidFill>
            <a:schemeClr val="accent3">
              <a:lumMod val="20000"/>
              <a:lumOff val="80000"/>
            </a:schemeClr>
          </a:solidFill>
        </p:spPr>
        <p:txBody>
          <a:bodyPr>
            <a:normAutofit/>
          </a:bodyPr>
          <a:lstStyle/>
          <a:p>
            <a:pPr marL="0" indent="0">
              <a:buNone/>
            </a:pPr>
            <a:r>
              <a:rPr lang="en-US" sz="1600" b="1" dirty="0"/>
              <a:t>Program Output</a:t>
            </a:r>
          </a:p>
          <a:p>
            <a:pPr marL="0" indent="0">
              <a:buNone/>
            </a:pPr>
            <a:r>
              <a:rPr lang="en-US" sz="1600" dirty="0"/>
              <a:t>This program tells you how to</a:t>
            </a:r>
          </a:p>
          <a:p>
            <a:pPr marL="0" indent="0">
              <a:buNone/>
            </a:pPr>
            <a:r>
              <a:rPr lang="en-US" sz="1600" dirty="0"/>
              <a:t>disassemble an ACME laundry dryer.</a:t>
            </a:r>
          </a:p>
          <a:p>
            <a:pPr marL="0" indent="0">
              <a:buNone/>
            </a:pPr>
            <a:r>
              <a:rPr lang="en-US" sz="1600" dirty="0"/>
              <a:t>There are 4 steps in the process.</a:t>
            </a:r>
          </a:p>
          <a:p>
            <a:pPr marL="0" indent="0">
              <a:buNone/>
            </a:pPr>
            <a:endParaRPr lang="en-US" sz="1600" dirty="0"/>
          </a:p>
          <a:p>
            <a:pPr marL="0" indent="0">
              <a:buNone/>
            </a:pPr>
            <a:r>
              <a:rPr lang="en-US" sz="1600" dirty="0"/>
              <a:t>Press Enter to see Step</a:t>
            </a:r>
          </a:p>
          <a:p>
            <a:pPr marL="0" indent="0">
              <a:buNone/>
            </a:pPr>
            <a:r>
              <a:rPr lang="en-US" sz="1600" dirty="0"/>
              <a:t>Step 1: Unplug the dryer and move it away from the wall.</a:t>
            </a:r>
          </a:p>
          <a:p>
            <a:pPr marL="0" indent="0">
              <a:buNone/>
            </a:pPr>
            <a:r>
              <a:rPr lang="en-US" sz="1600" dirty="0"/>
              <a:t>Press Enter to see Step 2. </a:t>
            </a:r>
          </a:p>
          <a:p>
            <a:pPr marL="0" indent="0">
              <a:buNone/>
            </a:pPr>
            <a:endParaRPr lang="en-US" sz="1600" dirty="0"/>
          </a:p>
          <a:p>
            <a:pPr marL="0" indent="0">
              <a:buNone/>
            </a:pPr>
            <a:r>
              <a:rPr lang="en-US" sz="1600" dirty="0"/>
              <a:t>Step 2: Remove the six screws from the back of the dryer.</a:t>
            </a:r>
          </a:p>
          <a:p>
            <a:pPr marL="0" indent="0">
              <a:buNone/>
            </a:pPr>
            <a:r>
              <a:rPr lang="en-US" sz="1600" dirty="0"/>
              <a:t>Press Enter to see Step 3. </a:t>
            </a:r>
          </a:p>
          <a:p>
            <a:pPr marL="0" indent="0">
              <a:buNone/>
            </a:pPr>
            <a:endParaRPr lang="en-US" sz="1600" dirty="0"/>
          </a:p>
          <a:p>
            <a:pPr marL="0" indent="0">
              <a:buNone/>
            </a:pPr>
            <a:r>
              <a:rPr lang="en-US" sz="1600" dirty="0"/>
              <a:t>Step 3: Remove the back panel from the dryer.</a:t>
            </a:r>
          </a:p>
          <a:p>
            <a:pPr marL="0" indent="0">
              <a:buNone/>
            </a:pPr>
            <a:r>
              <a:rPr lang="en-US" sz="1600" dirty="0"/>
              <a:t>Press Enter to see Step 4. </a:t>
            </a:r>
          </a:p>
          <a:p>
            <a:pPr marL="0" indent="0">
              <a:buNone/>
            </a:pPr>
            <a:r>
              <a:rPr lang="en-US" sz="1600" dirty="0"/>
              <a:t>Step 4: Pull the top of the dryer straight up.</a:t>
            </a:r>
          </a:p>
        </p:txBody>
      </p:sp>
    </p:spTree>
    <p:extLst>
      <p:ext uri="{BB962C8B-B14F-4D97-AF65-F5344CB8AC3E}">
        <p14:creationId xmlns:p14="http://schemas.microsoft.com/office/powerpoint/2010/main" val="339946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485293-1DFF-47B0-AE6E-18668BC2A1AE}"/>
              </a:ext>
            </a:extLst>
          </p:cNvPr>
          <p:cNvSpPr>
            <a:spLocks noGrp="1"/>
          </p:cNvSpPr>
          <p:nvPr>
            <p:ph idx="1"/>
          </p:nvPr>
        </p:nvSpPr>
        <p:spPr>
          <a:xfrm>
            <a:off x="779929" y="457201"/>
            <a:ext cx="5015753" cy="5822575"/>
          </a:xfrm>
          <a:solidFill>
            <a:schemeClr val="tx2">
              <a:lumMod val="20000"/>
              <a:lumOff val="80000"/>
            </a:schemeClr>
          </a:solidFill>
        </p:spPr>
        <p:txBody>
          <a:bodyPr>
            <a:normAutofit/>
          </a:bodyPr>
          <a:lstStyle/>
          <a:p>
            <a:pPr marL="0" indent="0">
              <a:buNone/>
            </a:pPr>
            <a:r>
              <a:rPr lang="en-US" dirty="0"/>
              <a:t>1 # This program demonstrates two functions that</a:t>
            </a:r>
          </a:p>
          <a:p>
            <a:pPr marL="0" indent="0">
              <a:buNone/>
            </a:pPr>
            <a:r>
              <a:rPr lang="en-US" dirty="0"/>
              <a:t>2 # have local variables with the same name.</a:t>
            </a:r>
          </a:p>
          <a:p>
            <a:pPr marL="0" indent="0">
              <a:buNone/>
            </a:pPr>
            <a:r>
              <a:rPr lang="en-US" dirty="0"/>
              <a:t>3</a:t>
            </a:r>
          </a:p>
          <a:p>
            <a:pPr marL="0" indent="0">
              <a:buNone/>
            </a:pPr>
            <a:r>
              <a:rPr lang="en-US" dirty="0"/>
              <a:t>4 def main():</a:t>
            </a:r>
          </a:p>
          <a:p>
            <a:pPr marL="0" indent="0">
              <a:buNone/>
            </a:pPr>
            <a:r>
              <a:rPr lang="en-US" dirty="0"/>
              <a:t>5 # Call the </a:t>
            </a:r>
            <a:r>
              <a:rPr lang="en-US" dirty="0" err="1"/>
              <a:t>texas</a:t>
            </a:r>
            <a:r>
              <a:rPr lang="en-US" dirty="0"/>
              <a:t> function.</a:t>
            </a:r>
          </a:p>
          <a:p>
            <a:pPr marL="0" indent="0">
              <a:buNone/>
            </a:pPr>
            <a:r>
              <a:rPr lang="en-US" dirty="0"/>
              <a:t>6 </a:t>
            </a:r>
            <a:r>
              <a:rPr lang="en-US" dirty="0" err="1"/>
              <a:t>texas</a:t>
            </a:r>
            <a:r>
              <a:rPr lang="en-US" dirty="0"/>
              <a:t>()</a:t>
            </a:r>
          </a:p>
          <a:p>
            <a:pPr marL="0" indent="0">
              <a:buNone/>
            </a:pPr>
            <a:r>
              <a:rPr lang="en-US" dirty="0"/>
              <a:t>7 # Call the </a:t>
            </a:r>
            <a:r>
              <a:rPr lang="en-US" dirty="0" err="1"/>
              <a:t>california</a:t>
            </a:r>
            <a:r>
              <a:rPr lang="en-US" dirty="0"/>
              <a:t> function.</a:t>
            </a:r>
          </a:p>
          <a:p>
            <a:pPr marL="0" indent="0">
              <a:buNone/>
            </a:pPr>
            <a:r>
              <a:rPr lang="en-US" dirty="0"/>
              <a:t>8 </a:t>
            </a:r>
            <a:r>
              <a:rPr lang="en-US" dirty="0" err="1"/>
              <a:t>california</a:t>
            </a:r>
            <a:r>
              <a:rPr lang="en-US" dirty="0"/>
              <a:t>()</a:t>
            </a:r>
          </a:p>
          <a:p>
            <a:pPr marL="0" indent="0">
              <a:buNone/>
            </a:pPr>
            <a:r>
              <a:rPr lang="en-US" dirty="0"/>
              <a:t>9</a:t>
            </a:r>
          </a:p>
          <a:p>
            <a:pPr marL="0" indent="0">
              <a:buNone/>
            </a:pPr>
            <a:r>
              <a:rPr lang="en-US" dirty="0"/>
              <a:t>10 # Definition of the </a:t>
            </a:r>
            <a:r>
              <a:rPr lang="en-US" dirty="0" err="1"/>
              <a:t>texas</a:t>
            </a:r>
            <a:r>
              <a:rPr lang="en-US" dirty="0"/>
              <a:t> function. It creates</a:t>
            </a:r>
          </a:p>
          <a:p>
            <a:pPr marL="0" indent="0">
              <a:buNone/>
            </a:pPr>
            <a:r>
              <a:rPr lang="en-US" dirty="0"/>
              <a:t>11 # a local variable named birds.</a:t>
            </a:r>
          </a:p>
          <a:p>
            <a:pPr marL="0" indent="0">
              <a:buNone/>
            </a:pPr>
            <a:r>
              <a:rPr lang="en-US" dirty="0"/>
              <a:t>12 def </a:t>
            </a:r>
            <a:r>
              <a:rPr lang="en-US" dirty="0" err="1"/>
              <a:t>texas</a:t>
            </a:r>
            <a:r>
              <a:rPr lang="en-US" dirty="0"/>
              <a:t>():</a:t>
            </a:r>
          </a:p>
          <a:p>
            <a:pPr marL="0" indent="0">
              <a:buNone/>
            </a:pPr>
            <a:r>
              <a:rPr lang="en-US" dirty="0"/>
              <a:t>13 birds = 5000</a:t>
            </a:r>
          </a:p>
          <a:p>
            <a:pPr marL="0" indent="0">
              <a:buNone/>
            </a:pPr>
            <a:r>
              <a:rPr lang="en-US" dirty="0"/>
              <a:t>14 print(</a:t>
            </a:r>
            <a:r>
              <a:rPr lang="en-US" dirty="0" err="1"/>
              <a:t>f'texas</a:t>
            </a:r>
            <a:r>
              <a:rPr lang="en-US" dirty="0"/>
              <a:t> has {birds} birds.')</a:t>
            </a:r>
          </a:p>
        </p:txBody>
      </p:sp>
      <p:sp>
        <p:nvSpPr>
          <p:cNvPr id="4" name="Rectangle 3">
            <a:extLst>
              <a:ext uri="{FF2B5EF4-FFF2-40B4-BE49-F238E27FC236}">
                <a16:creationId xmlns:a16="http://schemas.microsoft.com/office/drawing/2014/main" id="{00305AE4-FDDE-4A60-921B-4F10DBE6A89F}"/>
              </a:ext>
            </a:extLst>
          </p:cNvPr>
          <p:cNvSpPr/>
          <p:nvPr/>
        </p:nvSpPr>
        <p:spPr>
          <a:xfrm>
            <a:off x="5966012" y="457201"/>
            <a:ext cx="5195048" cy="2585323"/>
          </a:xfrm>
          <a:prstGeom prst="rect">
            <a:avLst/>
          </a:prstGeom>
          <a:solidFill>
            <a:schemeClr val="tx2">
              <a:lumMod val="20000"/>
              <a:lumOff val="80000"/>
            </a:schemeClr>
          </a:solidFill>
        </p:spPr>
        <p:txBody>
          <a:bodyPr wrap="square">
            <a:spAutoFit/>
          </a:bodyPr>
          <a:lstStyle/>
          <a:p>
            <a:r>
              <a:rPr lang="en-US" dirty="0"/>
              <a:t>15</a:t>
            </a:r>
          </a:p>
          <a:p>
            <a:r>
              <a:rPr lang="en-US" dirty="0"/>
              <a:t>16 # Definition of the </a:t>
            </a:r>
            <a:r>
              <a:rPr lang="en-US" dirty="0" err="1"/>
              <a:t>california</a:t>
            </a:r>
            <a:r>
              <a:rPr lang="en-US" dirty="0"/>
              <a:t> function. It also</a:t>
            </a:r>
          </a:p>
          <a:p>
            <a:r>
              <a:rPr lang="en-US" dirty="0"/>
              <a:t>17 # creates a local variable named birds.</a:t>
            </a:r>
          </a:p>
          <a:p>
            <a:r>
              <a:rPr lang="en-US" dirty="0"/>
              <a:t>18 def </a:t>
            </a:r>
            <a:r>
              <a:rPr lang="en-US" dirty="0" err="1"/>
              <a:t>california</a:t>
            </a:r>
            <a:r>
              <a:rPr lang="en-US" dirty="0"/>
              <a:t>():</a:t>
            </a:r>
          </a:p>
          <a:p>
            <a:r>
              <a:rPr lang="en-US" dirty="0"/>
              <a:t>19 birds = 8000</a:t>
            </a:r>
          </a:p>
          <a:p>
            <a:r>
              <a:rPr lang="en-US" dirty="0"/>
              <a:t>20 print(</a:t>
            </a:r>
            <a:r>
              <a:rPr lang="en-US" dirty="0" err="1"/>
              <a:t>f'california</a:t>
            </a:r>
            <a:r>
              <a:rPr lang="en-US" dirty="0"/>
              <a:t> has {birds} birds.')</a:t>
            </a:r>
          </a:p>
          <a:p>
            <a:r>
              <a:rPr lang="en-US" dirty="0"/>
              <a:t>21</a:t>
            </a:r>
          </a:p>
          <a:p>
            <a:r>
              <a:rPr lang="en-US" dirty="0"/>
              <a:t>22 # Call the main function.</a:t>
            </a:r>
          </a:p>
          <a:p>
            <a:r>
              <a:rPr lang="en-US" dirty="0"/>
              <a:t>23 main()</a:t>
            </a:r>
          </a:p>
        </p:txBody>
      </p:sp>
      <p:sp>
        <p:nvSpPr>
          <p:cNvPr id="5" name="Rectangle 4">
            <a:extLst>
              <a:ext uri="{FF2B5EF4-FFF2-40B4-BE49-F238E27FC236}">
                <a16:creationId xmlns:a16="http://schemas.microsoft.com/office/drawing/2014/main" id="{69EC39B1-0E75-4950-A2B4-EC83ECCB3832}"/>
              </a:ext>
            </a:extLst>
          </p:cNvPr>
          <p:cNvSpPr/>
          <p:nvPr/>
        </p:nvSpPr>
        <p:spPr>
          <a:xfrm>
            <a:off x="6096000" y="3353811"/>
            <a:ext cx="3155576" cy="923330"/>
          </a:xfrm>
          <a:prstGeom prst="rect">
            <a:avLst/>
          </a:prstGeom>
          <a:solidFill>
            <a:schemeClr val="accent1">
              <a:lumMod val="40000"/>
              <a:lumOff val="60000"/>
            </a:schemeClr>
          </a:solidFill>
        </p:spPr>
        <p:txBody>
          <a:bodyPr wrap="square">
            <a:spAutoFit/>
          </a:bodyPr>
          <a:lstStyle/>
          <a:p>
            <a:r>
              <a:rPr lang="en-US" b="1" dirty="0"/>
              <a:t>Program Output :</a:t>
            </a:r>
          </a:p>
          <a:p>
            <a:r>
              <a:rPr lang="en-US" dirty="0" err="1"/>
              <a:t>texas</a:t>
            </a:r>
            <a:r>
              <a:rPr lang="en-US" dirty="0"/>
              <a:t> has 5000 birds.</a:t>
            </a:r>
          </a:p>
          <a:p>
            <a:r>
              <a:rPr lang="en-US" dirty="0" err="1"/>
              <a:t>california</a:t>
            </a:r>
            <a:r>
              <a:rPr lang="en-US" dirty="0"/>
              <a:t> has 8000 birds.</a:t>
            </a:r>
          </a:p>
        </p:txBody>
      </p:sp>
    </p:spTree>
    <p:extLst>
      <p:ext uri="{BB962C8B-B14F-4D97-AF65-F5344CB8AC3E}">
        <p14:creationId xmlns:p14="http://schemas.microsoft.com/office/powerpoint/2010/main" val="4102719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24F65C-7860-44C1-8DB5-129D8BEEB261}"/>
              </a:ext>
            </a:extLst>
          </p:cNvPr>
          <p:cNvSpPr>
            <a:spLocks noGrp="1"/>
          </p:cNvSpPr>
          <p:nvPr>
            <p:ph idx="1"/>
          </p:nvPr>
        </p:nvSpPr>
        <p:spPr>
          <a:xfrm>
            <a:off x="1442242" y="459343"/>
            <a:ext cx="4904770" cy="6049033"/>
          </a:xfrm>
          <a:solidFill>
            <a:schemeClr val="accent1">
              <a:lumMod val="20000"/>
              <a:lumOff val="80000"/>
            </a:schemeClr>
          </a:solidFill>
        </p:spPr>
        <p:txBody>
          <a:bodyPr>
            <a:normAutofit lnSpcReduction="10000"/>
          </a:bodyPr>
          <a:lstStyle/>
          <a:p>
            <a:pPr marL="0" indent="0">
              <a:buNone/>
            </a:pPr>
            <a:r>
              <a:rPr lang="en-US" dirty="0"/>
              <a:t>1 # This program demonstrates an argument being</a:t>
            </a:r>
          </a:p>
          <a:p>
            <a:pPr marL="0" indent="0">
              <a:buNone/>
            </a:pPr>
            <a:r>
              <a:rPr lang="en-US" dirty="0"/>
              <a:t>2 # passed to a function.</a:t>
            </a:r>
          </a:p>
          <a:p>
            <a:pPr marL="0" indent="0">
              <a:buNone/>
            </a:pPr>
            <a:r>
              <a:rPr lang="en-US" dirty="0"/>
              <a:t>3</a:t>
            </a:r>
          </a:p>
          <a:p>
            <a:pPr marL="0" indent="0">
              <a:buNone/>
            </a:pPr>
            <a:r>
              <a:rPr lang="en-US" dirty="0"/>
              <a:t>4 def main():</a:t>
            </a:r>
          </a:p>
          <a:p>
            <a:pPr marL="0" indent="0">
              <a:buNone/>
            </a:pPr>
            <a:r>
              <a:rPr lang="en-US" dirty="0"/>
              <a:t>5 value = 5</a:t>
            </a:r>
          </a:p>
          <a:p>
            <a:pPr marL="0" indent="0">
              <a:buNone/>
            </a:pPr>
            <a:r>
              <a:rPr lang="en-US" dirty="0"/>
              <a:t>6 </a:t>
            </a:r>
            <a:r>
              <a:rPr lang="en-US" dirty="0" err="1"/>
              <a:t>show_double</a:t>
            </a:r>
            <a:r>
              <a:rPr lang="en-US" dirty="0"/>
              <a:t>(value)</a:t>
            </a:r>
          </a:p>
          <a:p>
            <a:pPr marL="0" indent="0">
              <a:buNone/>
            </a:pPr>
            <a:r>
              <a:rPr lang="en-US" dirty="0"/>
              <a:t>7</a:t>
            </a:r>
          </a:p>
          <a:p>
            <a:pPr marL="0" indent="0">
              <a:buNone/>
            </a:pPr>
            <a:r>
              <a:rPr lang="en-US" dirty="0"/>
              <a:t>8 # The </a:t>
            </a:r>
            <a:r>
              <a:rPr lang="en-US" dirty="0" err="1"/>
              <a:t>show_double</a:t>
            </a:r>
            <a:r>
              <a:rPr lang="en-US" dirty="0"/>
              <a:t> function accepts an argument</a:t>
            </a:r>
          </a:p>
          <a:p>
            <a:pPr marL="0" indent="0">
              <a:buNone/>
            </a:pPr>
            <a:r>
              <a:rPr lang="en-US" dirty="0"/>
              <a:t>9 # and displays double its value.</a:t>
            </a:r>
          </a:p>
          <a:p>
            <a:pPr marL="0" indent="0">
              <a:buNone/>
            </a:pPr>
            <a:r>
              <a:rPr lang="en-US" dirty="0"/>
              <a:t>10 def </a:t>
            </a:r>
            <a:r>
              <a:rPr lang="en-US" dirty="0" err="1"/>
              <a:t>show_double</a:t>
            </a:r>
            <a:r>
              <a:rPr lang="en-US" dirty="0"/>
              <a:t>(number):</a:t>
            </a:r>
          </a:p>
          <a:p>
            <a:pPr marL="0" indent="0">
              <a:buNone/>
            </a:pPr>
            <a:r>
              <a:rPr lang="en-US" dirty="0"/>
              <a:t>11 result = number * 2</a:t>
            </a:r>
          </a:p>
          <a:p>
            <a:pPr marL="0" indent="0">
              <a:buNone/>
            </a:pPr>
            <a:r>
              <a:rPr lang="en-US" dirty="0"/>
              <a:t>12 print(result)</a:t>
            </a:r>
          </a:p>
          <a:p>
            <a:pPr marL="0" indent="0">
              <a:buNone/>
            </a:pPr>
            <a:r>
              <a:rPr lang="en-US" dirty="0"/>
              <a:t>13</a:t>
            </a:r>
          </a:p>
          <a:p>
            <a:pPr marL="0" indent="0">
              <a:buNone/>
            </a:pPr>
            <a:r>
              <a:rPr lang="en-US" dirty="0"/>
              <a:t>14 # Call the main function.</a:t>
            </a:r>
          </a:p>
          <a:p>
            <a:pPr marL="0" indent="0">
              <a:buNone/>
            </a:pPr>
            <a:r>
              <a:rPr lang="en-US" dirty="0"/>
              <a:t>15 main()</a:t>
            </a:r>
          </a:p>
        </p:txBody>
      </p:sp>
      <p:sp>
        <p:nvSpPr>
          <p:cNvPr id="4" name="Rectangle 3">
            <a:extLst>
              <a:ext uri="{FF2B5EF4-FFF2-40B4-BE49-F238E27FC236}">
                <a16:creationId xmlns:a16="http://schemas.microsoft.com/office/drawing/2014/main" id="{FFE29615-1037-4EF3-AAEF-8F244D6D1F4E}"/>
              </a:ext>
            </a:extLst>
          </p:cNvPr>
          <p:cNvSpPr/>
          <p:nvPr/>
        </p:nvSpPr>
        <p:spPr>
          <a:xfrm>
            <a:off x="6347012" y="3160693"/>
            <a:ext cx="2129117" cy="646331"/>
          </a:xfrm>
          <a:prstGeom prst="rect">
            <a:avLst/>
          </a:prstGeom>
          <a:solidFill>
            <a:schemeClr val="tx2">
              <a:lumMod val="20000"/>
              <a:lumOff val="80000"/>
            </a:schemeClr>
          </a:solidFill>
        </p:spPr>
        <p:txBody>
          <a:bodyPr wrap="square">
            <a:spAutoFit/>
          </a:bodyPr>
          <a:lstStyle/>
          <a:p>
            <a:r>
              <a:rPr lang="en-US" dirty="0"/>
              <a:t>Program Output</a:t>
            </a:r>
          </a:p>
          <a:p>
            <a:r>
              <a:rPr lang="en-US" dirty="0"/>
              <a:t>10</a:t>
            </a:r>
          </a:p>
        </p:txBody>
      </p:sp>
    </p:spTree>
    <p:extLst>
      <p:ext uri="{BB962C8B-B14F-4D97-AF65-F5344CB8AC3E}">
        <p14:creationId xmlns:p14="http://schemas.microsoft.com/office/powerpoint/2010/main" val="2879571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B262BC-3391-4F08-9028-A9835426A90A}"/>
              </a:ext>
            </a:extLst>
          </p:cNvPr>
          <p:cNvSpPr>
            <a:spLocks noGrp="1"/>
          </p:cNvSpPr>
          <p:nvPr>
            <p:ph idx="1"/>
          </p:nvPr>
        </p:nvSpPr>
        <p:spPr>
          <a:xfrm>
            <a:off x="133395" y="427886"/>
            <a:ext cx="5729522" cy="5916706"/>
          </a:xfrm>
          <a:solidFill>
            <a:schemeClr val="bg2">
              <a:lumMod val="90000"/>
            </a:schemeClr>
          </a:solidFill>
        </p:spPr>
        <p:txBody>
          <a:bodyPr>
            <a:normAutofit fontScale="92500" lnSpcReduction="10000"/>
          </a:bodyPr>
          <a:lstStyle/>
          <a:p>
            <a:pPr marL="0" indent="0">
              <a:buNone/>
            </a:pPr>
            <a:r>
              <a:rPr lang="en-US" sz="1600" dirty="0"/>
              <a:t>1 # This program converts cups to fluid ounces.</a:t>
            </a:r>
          </a:p>
          <a:p>
            <a:pPr marL="0" indent="0">
              <a:buNone/>
            </a:pPr>
            <a:r>
              <a:rPr lang="en-US" sz="1600" dirty="0"/>
              <a:t>2</a:t>
            </a:r>
          </a:p>
          <a:p>
            <a:pPr marL="0" indent="0">
              <a:buNone/>
            </a:pPr>
            <a:r>
              <a:rPr lang="en-US" sz="1600" dirty="0"/>
              <a:t>3 def main():</a:t>
            </a:r>
          </a:p>
          <a:p>
            <a:pPr marL="0" indent="0">
              <a:buNone/>
            </a:pPr>
            <a:r>
              <a:rPr lang="en-US" sz="1600" dirty="0"/>
              <a:t>4 # display the intro screen.</a:t>
            </a:r>
          </a:p>
          <a:p>
            <a:pPr marL="0" indent="0">
              <a:buNone/>
            </a:pPr>
            <a:r>
              <a:rPr lang="en-US" sz="1600" dirty="0"/>
              <a:t>5 intro()</a:t>
            </a:r>
          </a:p>
          <a:p>
            <a:pPr marL="0" indent="0">
              <a:buNone/>
            </a:pPr>
            <a:r>
              <a:rPr lang="en-US" sz="1600" dirty="0"/>
              <a:t>6 # Get the number of cups.</a:t>
            </a:r>
          </a:p>
          <a:p>
            <a:pPr marL="0" indent="0">
              <a:buNone/>
            </a:pPr>
            <a:r>
              <a:rPr lang="en-US" sz="1600" dirty="0"/>
              <a:t>7 </a:t>
            </a:r>
            <a:r>
              <a:rPr lang="en-US" sz="1600" dirty="0" err="1"/>
              <a:t>cups_needed</a:t>
            </a:r>
            <a:r>
              <a:rPr lang="en-US" sz="1600" dirty="0"/>
              <a:t> = int(input('Enter the number of cups: '))</a:t>
            </a:r>
          </a:p>
          <a:p>
            <a:pPr marL="0" indent="0">
              <a:buNone/>
            </a:pPr>
            <a:r>
              <a:rPr lang="en-US" sz="1600" dirty="0"/>
              <a:t>8 # Convert the cups to ounces.</a:t>
            </a:r>
          </a:p>
          <a:p>
            <a:pPr marL="0" indent="0">
              <a:buNone/>
            </a:pPr>
            <a:r>
              <a:rPr lang="en-US" sz="1600" dirty="0"/>
              <a:t>9 </a:t>
            </a:r>
            <a:r>
              <a:rPr lang="en-US" sz="1600" dirty="0" err="1"/>
              <a:t>cups_to_ounces</a:t>
            </a:r>
            <a:r>
              <a:rPr lang="en-US" sz="1600" dirty="0"/>
              <a:t>(</a:t>
            </a:r>
            <a:r>
              <a:rPr lang="en-US" sz="1600" dirty="0" err="1"/>
              <a:t>cups_needed</a:t>
            </a:r>
            <a:r>
              <a:rPr lang="en-US" sz="1600" dirty="0"/>
              <a:t>)</a:t>
            </a:r>
          </a:p>
          <a:p>
            <a:pPr marL="0" indent="0">
              <a:buNone/>
            </a:pPr>
            <a:r>
              <a:rPr lang="en-US" sz="1600" dirty="0"/>
              <a:t>10</a:t>
            </a:r>
          </a:p>
          <a:p>
            <a:pPr marL="0" indent="0">
              <a:buNone/>
            </a:pPr>
            <a:r>
              <a:rPr lang="en-US" sz="1600" dirty="0"/>
              <a:t>11 # The intro function displays an introductory screen.</a:t>
            </a:r>
          </a:p>
          <a:p>
            <a:pPr marL="0" indent="0">
              <a:buNone/>
            </a:pPr>
            <a:r>
              <a:rPr lang="en-US" sz="1600" dirty="0"/>
              <a:t>12 def intro():</a:t>
            </a:r>
          </a:p>
          <a:p>
            <a:pPr marL="0" indent="0">
              <a:buNone/>
            </a:pPr>
            <a:r>
              <a:rPr lang="en-US" sz="1600" dirty="0"/>
              <a:t>13 print('This program converts measurements')</a:t>
            </a:r>
          </a:p>
          <a:p>
            <a:pPr marL="0" indent="0">
              <a:buNone/>
            </a:pPr>
            <a:r>
              <a:rPr lang="en-US" sz="1600" dirty="0"/>
              <a:t>14 print('in cups to fluid ounces. For your')</a:t>
            </a:r>
          </a:p>
          <a:p>
            <a:pPr marL="0" indent="0">
              <a:buNone/>
            </a:pPr>
            <a:r>
              <a:rPr lang="en-US" sz="1600" dirty="0"/>
              <a:t>15 print('reference the formula is:')</a:t>
            </a:r>
          </a:p>
          <a:p>
            <a:pPr marL="0" indent="0">
              <a:buNone/>
            </a:pPr>
            <a:r>
              <a:rPr lang="en-US" sz="1600" dirty="0"/>
              <a:t>16 print(' 1 cup = 8 fluid ounces')</a:t>
            </a:r>
          </a:p>
          <a:p>
            <a:pPr marL="0" indent="0">
              <a:buNone/>
            </a:pPr>
            <a:r>
              <a:rPr lang="en-US" sz="1600" dirty="0"/>
              <a:t>17 print()</a:t>
            </a:r>
          </a:p>
          <a:p>
            <a:endParaRPr lang="en-US" sz="1000" dirty="0"/>
          </a:p>
        </p:txBody>
      </p:sp>
      <p:sp>
        <p:nvSpPr>
          <p:cNvPr id="4" name="Rectangle 3">
            <a:extLst>
              <a:ext uri="{FF2B5EF4-FFF2-40B4-BE49-F238E27FC236}">
                <a16:creationId xmlns:a16="http://schemas.microsoft.com/office/drawing/2014/main" id="{1FD63A9D-F425-4EE0-A055-CD223CF2D744}"/>
              </a:ext>
            </a:extLst>
          </p:cNvPr>
          <p:cNvSpPr/>
          <p:nvPr/>
        </p:nvSpPr>
        <p:spPr>
          <a:xfrm>
            <a:off x="5755341" y="513408"/>
            <a:ext cx="5472953" cy="2585323"/>
          </a:xfrm>
          <a:prstGeom prst="rect">
            <a:avLst/>
          </a:prstGeom>
          <a:solidFill>
            <a:srgbClr val="FFCCFF"/>
          </a:solidFill>
        </p:spPr>
        <p:txBody>
          <a:bodyPr wrap="square">
            <a:spAutoFit/>
          </a:bodyPr>
          <a:lstStyle/>
          <a:p>
            <a:r>
              <a:rPr lang="en-US" dirty="0"/>
              <a:t>18</a:t>
            </a:r>
          </a:p>
          <a:p>
            <a:r>
              <a:rPr lang="en-US" dirty="0"/>
              <a:t>19 # The </a:t>
            </a:r>
            <a:r>
              <a:rPr lang="en-US" dirty="0" err="1"/>
              <a:t>cups_to_ounces</a:t>
            </a:r>
            <a:r>
              <a:rPr lang="en-US" dirty="0"/>
              <a:t> function accepts a number of</a:t>
            </a:r>
          </a:p>
          <a:p>
            <a:r>
              <a:rPr lang="en-US" dirty="0"/>
              <a:t>20 # cups and displays the equivalent number of ounces.</a:t>
            </a:r>
          </a:p>
          <a:p>
            <a:r>
              <a:rPr lang="en-US" dirty="0"/>
              <a:t>21 def </a:t>
            </a:r>
            <a:r>
              <a:rPr lang="en-US" dirty="0" err="1"/>
              <a:t>cups_to_ounces</a:t>
            </a:r>
            <a:r>
              <a:rPr lang="en-US" dirty="0"/>
              <a:t>(cups):</a:t>
            </a:r>
          </a:p>
          <a:p>
            <a:r>
              <a:rPr lang="en-US" dirty="0"/>
              <a:t>22 ounces = cups * 8</a:t>
            </a:r>
          </a:p>
          <a:p>
            <a:r>
              <a:rPr lang="en-US" dirty="0"/>
              <a:t>23 print(</a:t>
            </a:r>
            <a:r>
              <a:rPr lang="en-US" dirty="0" err="1"/>
              <a:t>f'That</a:t>
            </a:r>
            <a:r>
              <a:rPr lang="en-US" dirty="0"/>
              <a:t> converts to {ounces} ounces.')</a:t>
            </a:r>
          </a:p>
          <a:p>
            <a:r>
              <a:rPr lang="en-US" dirty="0"/>
              <a:t>24</a:t>
            </a:r>
          </a:p>
          <a:p>
            <a:r>
              <a:rPr lang="en-US" dirty="0"/>
              <a:t>25 # Call the main function.</a:t>
            </a:r>
          </a:p>
          <a:p>
            <a:r>
              <a:rPr lang="en-US" dirty="0"/>
              <a:t>26 main()</a:t>
            </a:r>
          </a:p>
        </p:txBody>
      </p:sp>
      <p:sp>
        <p:nvSpPr>
          <p:cNvPr id="5" name="Rectangle 4">
            <a:extLst>
              <a:ext uri="{FF2B5EF4-FFF2-40B4-BE49-F238E27FC236}">
                <a16:creationId xmlns:a16="http://schemas.microsoft.com/office/drawing/2014/main" id="{250FD5E2-F75C-48B9-94BF-B1CDEA10239C}"/>
              </a:ext>
            </a:extLst>
          </p:cNvPr>
          <p:cNvSpPr/>
          <p:nvPr/>
        </p:nvSpPr>
        <p:spPr>
          <a:xfrm>
            <a:off x="6096000" y="3386239"/>
            <a:ext cx="4150659" cy="2031325"/>
          </a:xfrm>
          <a:prstGeom prst="rect">
            <a:avLst/>
          </a:prstGeom>
          <a:solidFill>
            <a:srgbClr val="92D050"/>
          </a:solidFill>
        </p:spPr>
        <p:txBody>
          <a:bodyPr wrap="square">
            <a:spAutoFit/>
          </a:bodyPr>
          <a:lstStyle/>
          <a:p>
            <a:r>
              <a:rPr lang="en-US" dirty="0"/>
              <a:t>Program Output </a:t>
            </a:r>
          </a:p>
          <a:p>
            <a:r>
              <a:rPr lang="en-US" dirty="0"/>
              <a:t>This program converts measurements</a:t>
            </a:r>
          </a:p>
          <a:p>
            <a:r>
              <a:rPr lang="en-US" dirty="0"/>
              <a:t>in cups to fluid ounces. For your</a:t>
            </a:r>
          </a:p>
          <a:p>
            <a:r>
              <a:rPr lang="en-US" dirty="0"/>
              <a:t>reference the formula is:</a:t>
            </a:r>
          </a:p>
          <a:p>
            <a:r>
              <a:rPr lang="en-US" dirty="0"/>
              <a:t>1 cup = 8 fluid ounces</a:t>
            </a:r>
          </a:p>
          <a:p>
            <a:r>
              <a:rPr lang="en-US" dirty="0"/>
              <a:t>Enter the number of cups: 4</a:t>
            </a:r>
          </a:p>
          <a:p>
            <a:r>
              <a:rPr lang="en-US" dirty="0"/>
              <a:t>That converts to 32 ounces.</a:t>
            </a:r>
          </a:p>
        </p:txBody>
      </p:sp>
    </p:spTree>
    <p:extLst>
      <p:ext uri="{BB962C8B-B14F-4D97-AF65-F5344CB8AC3E}">
        <p14:creationId xmlns:p14="http://schemas.microsoft.com/office/powerpoint/2010/main" val="2798340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43464C-094D-42ED-BE47-A91D227975D4}"/>
              </a:ext>
            </a:extLst>
          </p:cNvPr>
          <p:cNvSpPr>
            <a:spLocks noGrp="1"/>
          </p:cNvSpPr>
          <p:nvPr>
            <p:ph idx="1"/>
          </p:nvPr>
        </p:nvSpPr>
        <p:spPr>
          <a:xfrm>
            <a:off x="3482251" y="429622"/>
            <a:ext cx="3658675" cy="4986439"/>
          </a:xfrm>
          <a:solidFill>
            <a:srgbClr val="00B0F0"/>
          </a:solidFill>
        </p:spPr>
        <p:txBody>
          <a:bodyPr>
            <a:normAutofit/>
          </a:bodyPr>
          <a:lstStyle/>
          <a:p>
            <a:pPr marL="0" indent="0">
              <a:buNone/>
            </a:pPr>
            <a:r>
              <a:rPr lang="en-US" dirty="0"/>
              <a:t> 1 # This program displays five random</a:t>
            </a:r>
          </a:p>
          <a:p>
            <a:pPr marL="0" indent="0">
              <a:buNone/>
            </a:pPr>
            <a:r>
              <a:rPr lang="en-US" dirty="0"/>
              <a:t>2 # numbers in the range of 1 through 100.</a:t>
            </a:r>
          </a:p>
          <a:p>
            <a:pPr marL="0" indent="0">
              <a:buNone/>
            </a:pPr>
            <a:r>
              <a:rPr lang="en-US" dirty="0"/>
              <a:t>3 import random</a:t>
            </a:r>
          </a:p>
          <a:p>
            <a:pPr marL="0" indent="0">
              <a:buNone/>
            </a:pPr>
            <a:r>
              <a:rPr lang="en-US" dirty="0"/>
              <a:t>4</a:t>
            </a:r>
          </a:p>
          <a:p>
            <a:pPr marL="0" indent="0">
              <a:buNone/>
            </a:pPr>
            <a:r>
              <a:rPr lang="en-US" dirty="0"/>
              <a:t>5 def main():</a:t>
            </a:r>
          </a:p>
          <a:p>
            <a:pPr marL="0" indent="0">
              <a:buNone/>
            </a:pPr>
            <a:r>
              <a:rPr lang="en-US" dirty="0"/>
              <a:t>6 for count in range(5):</a:t>
            </a:r>
          </a:p>
          <a:p>
            <a:pPr marL="0" indent="0">
              <a:buNone/>
            </a:pPr>
            <a:r>
              <a:rPr lang="en-US" dirty="0"/>
              <a:t>7 print(</a:t>
            </a:r>
            <a:r>
              <a:rPr lang="en-US" dirty="0" err="1"/>
              <a:t>random.randint</a:t>
            </a:r>
            <a:r>
              <a:rPr lang="en-US" dirty="0"/>
              <a:t>(1, 100))</a:t>
            </a:r>
          </a:p>
          <a:p>
            <a:pPr marL="0" indent="0">
              <a:buNone/>
            </a:pPr>
            <a:r>
              <a:rPr lang="en-US" dirty="0"/>
              <a:t>8</a:t>
            </a:r>
          </a:p>
          <a:p>
            <a:pPr marL="0" indent="0">
              <a:buNone/>
            </a:pPr>
            <a:r>
              <a:rPr lang="en-US" dirty="0"/>
              <a:t>9 # Call the main function.</a:t>
            </a:r>
          </a:p>
          <a:p>
            <a:pPr marL="0" indent="0">
              <a:buNone/>
            </a:pPr>
            <a:r>
              <a:rPr lang="en-US" dirty="0"/>
              <a:t>10 main()</a:t>
            </a:r>
          </a:p>
        </p:txBody>
      </p:sp>
      <p:sp>
        <p:nvSpPr>
          <p:cNvPr id="4" name="Rectangle 3">
            <a:extLst>
              <a:ext uri="{FF2B5EF4-FFF2-40B4-BE49-F238E27FC236}">
                <a16:creationId xmlns:a16="http://schemas.microsoft.com/office/drawing/2014/main" id="{F26A9B23-A597-4D32-AE03-BAC3E92BD984}"/>
              </a:ext>
            </a:extLst>
          </p:cNvPr>
          <p:cNvSpPr/>
          <p:nvPr/>
        </p:nvSpPr>
        <p:spPr>
          <a:xfrm>
            <a:off x="6745942" y="4538898"/>
            <a:ext cx="1887071" cy="1754326"/>
          </a:xfrm>
          <a:prstGeom prst="rect">
            <a:avLst/>
          </a:prstGeom>
          <a:solidFill>
            <a:srgbClr val="FFCCFF"/>
          </a:solidFill>
        </p:spPr>
        <p:txBody>
          <a:bodyPr wrap="square">
            <a:spAutoFit/>
          </a:bodyPr>
          <a:lstStyle/>
          <a:p>
            <a:r>
              <a:rPr lang="pt-BR" dirty="0"/>
              <a:t>Program Output</a:t>
            </a:r>
          </a:p>
          <a:p>
            <a:r>
              <a:rPr lang="pt-BR" dirty="0"/>
              <a:t>89</a:t>
            </a:r>
          </a:p>
          <a:p>
            <a:r>
              <a:rPr lang="pt-BR" dirty="0"/>
              <a:t>7</a:t>
            </a:r>
          </a:p>
          <a:p>
            <a:r>
              <a:rPr lang="pt-BR" dirty="0"/>
              <a:t>16</a:t>
            </a:r>
          </a:p>
          <a:p>
            <a:r>
              <a:rPr lang="pt-BR" dirty="0"/>
              <a:t>41</a:t>
            </a:r>
          </a:p>
          <a:p>
            <a:r>
              <a:rPr lang="pt-BR" dirty="0"/>
              <a:t>12</a:t>
            </a:r>
            <a:endParaRPr lang="en-US" dirty="0"/>
          </a:p>
        </p:txBody>
      </p:sp>
    </p:spTree>
    <p:extLst>
      <p:ext uri="{BB962C8B-B14F-4D97-AF65-F5344CB8AC3E}">
        <p14:creationId xmlns:p14="http://schemas.microsoft.com/office/powerpoint/2010/main" val="2572104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723C3-F17B-45A5-8D31-690E7F0BAE96}"/>
              </a:ext>
            </a:extLst>
          </p:cNvPr>
          <p:cNvSpPr>
            <a:spLocks noGrp="1"/>
          </p:cNvSpPr>
          <p:nvPr>
            <p:ph type="title"/>
          </p:nvPr>
        </p:nvSpPr>
        <p:spPr>
          <a:xfrm>
            <a:off x="2231136" y="117527"/>
            <a:ext cx="7729728" cy="1188720"/>
          </a:xfrm>
        </p:spPr>
        <p:txBody>
          <a:bodyPr/>
          <a:lstStyle/>
          <a:p>
            <a:r>
              <a:rPr lang="en-US" b="1" dirty="0">
                <a:latin typeface="Aharoni" panose="02010803020104030203" pitchFamily="2" charset="-79"/>
                <a:cs typeface="Aharoni" panose="02010803020104030203" pitchFamily="2" charset="-79"/>
              </a:rPr>
              <a:t>Writing Your Own Value-Returning Functions</a:t>
            </a:r>
          </a:p>
        </p:txBody>
      </p:sp>
      <p:sp>
        <p:nvSpPr>
          <p:cNvPr id="3" name="Content Placeholder 2">
            <a:extLst>
              <a:ext uri="{FF2B5EF4-FFF2-40B4-BE49-F238E27FC236}">
                <a16:creationId xmlns:a16="http://schemas.microsoft.com/office/drawing/2014/main" id="{68FD91E0-DB34-4DA7-9DCB-B51415C91989}"/>
              </a:ext>
            </a:extLst>
          </p:cNvPr>
          <p:cNvSpPr>
            <a:spLocks noGrp="1"/>
          </p:cNvSpPr>
          <p:nvPr>
            <p:ph idx="1"/>
          </p:nvPr>
        </p:nvSpPr>
        <p:spPr>
          <a:xfrm>
            <a:off x="2231136" y="1710197"/>
            <a:ext cx="7729728" cy="1188721"/>
          </a:xfrm>
        </p:spPr>
        <p:txBody>
          <a:bodyPr/>
          <a:lstStyle/>
          <a:p>
            <a:r>
              <a:rPr lang="en-US" dirty="0"/>
              <a:t>A value-returning function has a return statement that returns a value back to the part of the program that called it.</a:t>
            </a:r>
          </a:p>
          <a:p>
            <a:endParaRPr lang="en-US" dirty="0"/>
          </a:p>
          <a:p>
            <a:endParaRPr lang="en-US" dirty="0"/>
          </a:p>
        </p:txBody>
      </p:sp>
      <p:sp>
        <p:nvSpPr>
          <p:cNvPr id="4" name="Rectangle 3">
            <a:extLst>
              <a:ext uri="{FF2B5EF4-FFF2-40B4-BE49-F238E27FC236}">
                <a16:creationId xmlns:a16="http://schemas.microsoft.com/office/drawing/2014/main" id="{2B3674A7-E075-4B88-8D55-181166997B43}"/>
              </a:ext>
            </a:extLst>
          </p:cNvPr>
          <p:cNvSpPr/>
          <p:nvPr/>
        </p:nvSpPr>
        <p:spPr>
          <a:xfrm>
            <a:off x="4325470" y="2898918"/>
            <a:ext cx="2438400" cy="1477328"/>
          </a:xfrm>
          <a:prstGeom prst="rect">
            <a:avLst/>
          </a:prstGeom>
          <a:solidFill>
            <a:srgbClr val="FFCCFF"/>
          </a:solidFill>
        </p:spPr>
        <p:txBody>
          <a:bodyPr wrap="square">
            <a:spAutoFit/>
          </a:bodyPr>
          <a:lstStyle/>
          <a:p>
            <a:r>
              <a:rPr lang="en-US" dirty="0"/>
              <a:t>def </a:t>
            </a:r>
            <a:r>
              <a:rPr lang="en-US" dirty="0" err="1"/>
              <a:t>function_name</a:t>
            </a:r>
            <a:r>
              <a:rPr lang="en-US" dirty="0"/>
              <a:t>():</a:t>
            </a:r>
          </a:p>
          <a:p>
            <a:r>
              <a:rPr lang="en-US" dirty="0"/>
              <a:t> statement</a:t>
            </a:r>
          </a:p>
          <a:p>
            <a:r>
              <a:rPr lang="en-US" dirty="0"/>
              <a:t> statement</a:t>
            </a:r>
          </a:p>
          <a:p>
            <a:r>
              <a:rPr lang="en-US" dirty="0"/>
              <a:t> etc.</a:t>
            </a:r>
          </a:p>
          <a:p>
            <a:r>
              <a:rPr lang="en-US" dirty="0"/>
              <a:t> return expression</a:t>
            </a:r>
          </a:p>
        </p:txBody>
      </p:sp>
      <p:sp>
        <p:nvSpPr>
          <p:cNvPr id="5" name="Rectangle 4">
            <a:extLst>
              <a:ext uri="{FF2B5EF4-FFF2-40B4-BE49-F238E27FC236}">
                <a16:creationId xmlns:a16="http://schemas.microsoft.com/office/drawing/2014/main" id="{2DCD41E5-4C46-4CE4-8DAB-8893B729E1AD}"/>
              </a:ext>
            </a:extLst>
          </p:cNvPr>
          <p:cNvSpPr/>
          <p:nvPr/>
        </p:nvSpPr>
        <p:spPr>
          <a:xfrm>
            <a:off x="2859741" y="4626713"/>
            <a:ext cx="6096000" cy="1477328"/>
          </a:xfrm>
          <a:prstGeom prst="rect">
            <a:avLst/>
          </a:prstGeom>
          <a:solidFill>
            <a:schemeClr val="accent2">
              <a:lumMod val="40000"/>
              <a:lumOff val="60000"/>
            </a:schemeClr>
          </a:solidFill>
        </p:spPr>
        <p:txBody>
          <a:bodyPr>
            <a:spAutoFit/>
          </a:bodyPr>
          <a:lstStyle/>
          <a:p>
            <a:r>
              <a:rPr lang="en-US" dirty="0"/>
              <a:t>return expression</a:t>
            </a:r>
          </a:p>
          <a:p>
            <a:r>
              <a:rPr lang="en-US" dirty="0"/>
              <a:t>The value of the expression that follows the keyword return will be sent back to the part of the program that called the function. This can be any value, variable, or expression that </a:t>
            </a:r>
          </a:p>
          <a:p>
            <a:r>
              <a:rPr lang="en-US" dirty="0"/>
              <a:t>has a value (such as a math expression).</a:t>
            </a:r>
          </a:p>
        </p:txBody>
      </p:sp>
    </p:spTree>
    <p:extLst>
      <p:ext uri="{BB962C8B-B14F-4D97-AF65-F5344CB8AC3E}">
        <p14:creationId xmlns:p14="http://schemas.microsoft.com/office/powerpoint/2010/main" val="2014955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2C588A-C730-4F36-9002-7EB273391403}"/>
              </a:ext>
            </a:extLst>
          </p:cNvPr>
          <p:cNvSpPr>
            <a:spLocks noGrp="1"/>
          </p:cNvSpPr>
          <p:nvPr>
            <p:ph idx="1"/>
          </p:nvPr>
        </p:nvSpPr>
        <p:spPr>
          <a:xfrm>
            <a:off x="1693253" y="1347128"/>
            <a:ext cx="2932535" cy="1207814"/>
          </a:xfrm>
          <a:solidFill>
            <a:srgbClr val="99FF99"/>
          </a:solidFill>
        </p:spPr>
        <p:txBody>
          <a:bodyPr/>
          <a:lstStyle/>
          <a:p>
            <a:pPr marL="0" indent="0">
              <a:buNone/>
            </a:pPr>
            <a:r>
              <a:rPr lang="pt-BR" dirty="0"/>
              <a:t>def sum(num1, num2):</a:t>
            </a:r>
          </a:p>
          <a:p>
            <a:pPr marL="0" indent="0">
              <a:buNone/>
            </a:pPr>
            <a:r>
              <a:rPr lang="pt-BR" dirty="0"/>
              <a:t> result = num 1 + num 2</a:t>
            </a:r>
          </a:p>
          <a:p>
            <a:pPr marL="0" indent="0">
              <a:buNone/>
            </a:pPr>
            <a:r>
              <a:rPr lang="pt-BR" dirty="0"/>
              <a:t> return result</a:t>
            </a:r>
            <a:endParaRPr lang="en-US" dirty="0"/>
          </a:p>
        </p:txBody>
      </p:sp>
      <p:pic>
        <p:nvPicPr>
          <p:cNvPr id="4" name="Picture 3">
            <a:extLst>
              <a:ext uri="{FF2B5EF4-FFF2-40B4-BE49-F238E27FC236}">
                <a16:creationId xmlns:a16="http://schemas.microsoft.com/office/drawing/2014/main" id="{86D1D142-EFAB-4CD4-A361-5FA7172CEA28}"/>
              </a:ext>
            </a:extLst>
          </p:cNvPr>
          <p:cNvPicPr>
            <a:picLocks noChangeAspect="1"/>
          </p:cNvPicPr>
          <p:nvPr/>
        </p:nvPicPr>
        <p:blipFill>
          <a:blip r:embed="rId2"/>
          <a:stretch>
            <a:fillRect/>
          </a:stretch>
        </p:blipFill>
        <p:spPr>
          <a:xfrm>
            <a:off x="4975412" y="1483326"/>
            <a:ext cx="6817659" cy="3129016"/>
          </a:xfrm>
          <a:prstGeom prst="rect">
            <a:avLst/>
          </a:prstGeom>
        </p:spPr>
      </p:pic>
    </p:spTree>
    <p:extLst>
      <p:ext uri="{BB962C8B-B14F-4D97-AF65-F5344CB8AC3E}">
        <p14:creationId xmlns:p14="http://schemas.microsoft.com/office/powerpoint/2010/main" val="480054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450286-018D-4130-A567-6DD7D53AC82F}"/>
              </a:ext>
            </a:extLst>
          </p:cNvPr>
          <p:cNvSpPr>
            <a:spLocks noGrp="1"/>
          </p:cNvSpPr>
          <p:nvPr>
            <p:ph idx="1"/>
          </p:nvPr>
        </p:nvSpPr>
        <p:spPr>
          <a:xfrm>
            <a:off x="240971" y="107576"/>
            <a:ext cx="4909254" cy="6615953"/>
          </a:xfrm>
          <a:solidFill>
            <a:srgbClr val="99CCFF"/>
          </a:solidFill>
        </p:spPr>
        <p:txBody>
          <a:bodyPr>
            <a:normAutofit fontScale="92500" lnSpcReduction="10000"/>
          </a:bodyPr>
          <a:lstStyle/>
          <a:p>
            <a:pPr marL="0" indent="0">
              <a:buNone/>
            </a:pPr>
            <a:r>
              <a:rPr lang="en-US" dirty="0"/>
              <a:t># This program uses the return value of a function.</a:t>
            </a:r>
          </a:p>
          <a:p>
            <a:pPr marL="0" indent="0">
              <a:buNone/>
            </a:pPr>
            <a:r>
              <a:rPr lang="en-US" dirty="0"/>
              <a:t>3 def main():</a:t>
            </a:r>
          </a:p>
          <a:p>
            <a:pPr marL="0" indent="0">
              <a:buNone/>
            </a:pPr>
            <a:r>
              <a:rPr lang="en-US" dirty="0"/>
              <a:t>4 # Get the user's age.</a:t>
            </a:r>
          </a:p>
          <a:p>
            <a:pPr marL="0" indent="0">
              <a:buNone/>
            </a:pPr>
            <a:r>
              <a:rPr lang="en-US" dirty="0"/>
              <a:t>5 </a:t>
            </a:r>
            <a:r>
              <a:rPr lang="en-US" dirty="0" err="1"/>
              <a:t>first_age</a:t>
            </a:r>
            <a:r>
              <a:rPr lang="en-US" dirty="0"/>
              <a:t> = int(input('Enter your age: '))</a:t>
            </a:r>
          </a:p>
          <a:p>
            <a:pPr marL="0" indent="0">
              <a:buNone/>
            </a:pPr>
            <a:r>
              <a:rPr lang="en-US" dirty="0"/>
              <a:t>7 # Get the user's best friend's age.</a:t>
            </a:r>
          </a:p>
          <a:p>
            <a:pPr marL="0" indent="0">
              <a:buNone/>
            </a:pPr>
            <a:r>
              <a:rPr lang="en-US" dirty="0"/>
              <a:t>8 </a:t>
            </a:r>
            <a:r>
              <a:rPr lang="en-US" dirty="0" err="1"/>
              <a:t>second_age</a:t>
            </a:r>
            <a:r>
              <a:rPr lang="en-US" dirty="0"/>
              <a:t> = int(input("Enter your best friend's age: "))</a:t>
            </a:r>
          </a:p>
          <a:p>
            <a:pPr marL="0" indent="0">
              <a:buNone/>
            </a:pPr>
            <a:r>
              <a:rPr lang="en-US" dirty="0"/>
              <a:t>10 # Get the sum of both ages.</a:t>
            </a:r>
          </a:p>
          <a:p>
            <a:pPr marL="0" indent="0">
              <a:buNone/>
            </a:pPr>
            <a:r>
              <a:rPr lang="en-US" dirty="0"/>
              <a:t>11 total = sum(</a:t>
            </a:r>
            <a:r>
              <a:rPr lang="en-US" dirty="0" err="1"/>
              <a:t>first_age</a:t>
            </a:r>
            <a:r>
              <a:rPr lang="en-US" dirty="0"/>
              <a:t>, </a:t>
            </a:r>
            <a:r>
              <a:rPr lang="en-US" dirty="0" err="1"/>
              <a:t>second_age</a:t>
            </a:r>
            <a:r>
              <a:rPr lang="en-US" dirty="0"/>
              <a:t>)</a:t>
            </a:r>
          </a:p>
          <a:p>
            <a:pPr marL="0" indent="0">
              <a:buNone/>
            </a:pPr>
            <a:r>
              <a:rPr lang="en-US" dirty="0"/>
              <a:t>13 # Display the total age.</a:t>
            </a:r>
          </a:p>
          <a:p>
            <a:pPr marL="0" indent="0">
              <a:buNone/>
            </a:pPr>
            <a:r>
              <a:rPr lang="en-US" dirty="0"/>
              <a:t>14 print(</a:t>
            </a:r>
            <a:r>
              <a:rPr lang="en-US" dirty="0" err="1"/>
              <a:t>f'Together</a:t>
            </a:r>
            <a:r>
              <a:rPr lang="en-US" dirty="0"/>
              <a:t> you are {total} years old.')</a:t>
            </a:r>
          </a:p>
          <a:p>
            <a:pPr marL="0" indent="0">
              <a:buNone/>
            </a:pPr>
            <a:r>
              <a:rPr lang="en-US" dirty="0"/>
              <a:t>16 # The sum function accepts two numeric arguments and</a:t>
            </a:r>
          </a:p>
          <a:p>
            <a:pPr marL="0" indent="0">
              <a:buNone/>
            </a:pPr>
            <a:r>
              <a:rPr lang="en-US" dirty="0"/>
              <a:t>17 # returns the sum of those arguments.</a:t>
            </a:r>
          </a:p>
          <a:p>
            <a:pPr marL="0" indent="0">
              <a:buNone/>
            </a:pPr>
            <a:r>
              <a:rPr lang="en-US" dirty="0"/>
              <a:t>18 def sum(num1, num2):</a:t>
            </a:r>
          </a:p>
          <a:p>
            <a:pPr marL="0" indent="0">
              <a:buNone/>
            </a:pPr>
            <a:r>
              <a:rPr lang="en-US" dirty="0"/>
              <a:t>19 result = num1 + num2</a:t>
            </a:r>
          </a:p>
          <a:p>
            <a:pPr marL="0" indent="0">
              <a:buNone/>
            </a:pPr>
            <a:r>
              <a:rPr lang="en-US" dirty="0"/>
              <a:t>20 return result</a:t>
            </a:r>
          </a:p>
          <a:p>
            <a:pPr marL="0" indent="0">
              <a:buNone/>
            </a:pPr>
            <a:r>
              <a:rPr lang="en-US" dirty="0"/>
              <a:t>22 # Call the main function.</a:t>
            </a:r>
          </a:p>
          <a:p>
            <a:pPr marL="0" indent="0">
              <a:buNone/>
            </a:pPr>
            <a:r>
              <a:rPr lang="en-US" dirty="0"/>
              <a:t>23 main()</a:t>
            </a:r>
          </a:p>
        </p:txBody>
      </p:sp>
      <p:sp>
        <p:nvSpPr>
          <p:cNvPr id="4" name="Rectangle 3">
            <a:extLst>
              <a:ext uri="{FF2B5EF4-FFF2-40B4-BE49-F238E27FC236}">
                <a16:creationId xmlns:a16="http://schemas.microsoft.com/office/drawing/2014/main" id="{31D0DFE6-0B58-43BC-AAE0-4E16AC511B51}"/>
              </a:ext>
            </a:extLst>
          </p:cNvPr>
          <p:cNvSpPr/>
          <p:nvPr/>
        </p:nvSpPr>
        <p:spPr>
          <a:xfrm>
            <a:off x="4567517" y="2559895"/>
            <a:ext cx="3581400" cy="1200329"/>
          </a:xfrm>
          <a:prstGeom prst="rect">
            <a:avLst/>
          </a:prstGeom>
          <a:solidFill>
            <a:srgbClr val="CC99FF"/>
          </a:solidFill>
        </p:spPr>
        <p:txBody>
          <a:bodyPr wrap="square">
            <a:spAutoFit/>
          </a:bodyPr>
          <a:lstStyle/>
          <a:p>
            <a:r>
              <a:rPr lang="en-US" dirty="0"/>
              <a:t>Program Output </a:t>
            </a:r>
          </a:p>
          <a:p>
            <a:r>
              <a:rPr lang="en-US" dirty="0"/>
              <a:t>Enter your age: 22</a:t>
            </a:r>
          </a:p>
          <a:p>
            <a:r>
              <a:rPr lang="en-US" dirty="0"/>
              <a:t>Enter your best friend's age: 24</a:t>
            </a:r>
          </a:p>
          <a:p>
            <a:r>
              <a:rPr lang="en-US" dirty="0"/>
              <a:t>Together you are 46 years old.</a:t>
            </a:r>
          </a:p>
        </p:txBody>
      </p:sp>
    </p:spTree>
    <p:extLst>
      <p:ext uri="{BB962C8B-B14F-4D97-AF65-F5344CB8AC3E}">
        <p14:creationId xmlns:p14="http://schemas.microsoft.com/office/powerpoint/2010/main" val="131701778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58ABB186A85454283779F1D5AC4F082" ma:contentTypeVersion="9" ma:contentTypeDescription="Create a new document." ma:contentTypeScope="" ma:versionID="1583c6d60e1d6fc869d40f5e29b18f89">
  <xsd:schema xmlns:xsd="http://www.w3.org/2001/XMLSchema" xmlns:xs="http://www.w3.org/2001/XMLSchema" xmlns:p="http://schemas.microsoft.com/office/2006/metadata/properties" xmlns:ns3="5e421343-59c8-40ef-9ea1-ece5ea67b612" targetNamespace="http://schemas.microsoft.com/office/2006/metadata/properties" ma:root="true" ma:fieldsID="9e04e0dd77756da3005a42894ade9327" ns3:_="">
    <xsd:import namespace="5e421343-59c8-40ef-9ea1-ece5ea67b61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21343-59c8-40ef-9ea1-ece5ea67b6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B59C5F-9785-4D7F-8FC7-2C46CC148758}">
  <ds:schemaRefs>
    <ds:schemaRef ds:uri="http://schemas.microsoft.com/office/2006/documentManagement/types"/>
    <ds:schemaRef ds:uri="http://purl.org/dc/terms/"/>
    <ds:schemaRef ds:uri="http://purl.org/dc/elements/1.1/"/>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5e421343-59c8-40ef-9ea1-ece5ea67b612"/>
    <ds:schemaRef ds:uri="http://purl.org/dc/dcmitype/"/>
  </ds:schemaRefs>
</ds:datastoreItem>
</file>

<file path=customXml/itemProps2.xml><?xml version="1.0" encoding="utf-8"?>
<ds:datastoreItem xmlns:ds="http://schemas.openxmlformats.org/officeDocument/2006/customXml" ds:itemID="{BDB30FD4-3906-4B2E-98E7-7A2C542AF7E4}">
  <ds:schemaRefs>
    <ds:schemaRef ds:uri="http://schemas.microsoft.com/sharepoint/v3/contenttype/forms"/>
  </ds:schemaRefs>
</ds:datastoreItem>
</file>

<file path=customXml/itemProps3.xml><?xml version="1.0" encoding="utf-8"?>
<ds:datastoreItem xmlns:ds="http://schemas.openxmlformats.org/officeDocument/2006/customXml" ds:itemID="{7846AF71-A37D-44CD-8767-34FAFB46DC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21343-59c8-40ef-9ea1-ece5ea67b6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TM10001115[[fn=Parcel]]</Template>
  <TotalTime>258</TotalTime>
  <Words>1638</Words>
  <Application>Microsoft Office PowerPoint</Application>
  <PresentationFormat>Widescreen</PresentationFormat>
  <Paragraphs>261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Aharoni</vt:lpstr>
      <vt:lpstr>Arial</vt:lpstr>
      <vt:lpstr>Gill Sans MT</vt:lpstr>
      <vt:lpstr>Parcel</vt:lpstr>
      <vt:lpstr>TOPIC 6 FUNCTION</vt:lpstr>
      <vt:lpstr>CONTENTS</vt:lpstr>
      <vt:lpstr>Define new functions in Python </vt:lpstr>
      <vt:lpstr>PowerPoint Presentation</vt:lpstr>
      <vt:lpstr>Function calls and parameter passing in  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Writing Your Own Value-Returning Functions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6 FUNCTION</dc:title>
  <dc:creator>Navitha A/P. Gunalan</dc:creator>
  <cp:lastModifiedBy>Navitha A/P. Gunalan</cp:lastModifiedBy>
  <cp:revision>15</cp:revision>
  <dcterms:created xsi:type="dcterms:W3CDTF">2023-10-02T15:10:49Z</dcterms:created>
  <dcterms:modified xsi:type="dcterms:W3CDTF">2023-10-05T16:42:33Z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0x010100958ABB186A85454283779F1D5AC4F082</vt:lpwstr>
  </property>
</Properties>
</file>