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B1DDFF"/>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1BCBC41F-3C49-4299-BFDF-78CBFD6B4FDD}" type="datetimeFigureOut">
              <a:rPr lang="en-MY" smtClean="0"/>
              <a:t>31/8/2023</a:t>
            </a:fld>
            <a:endParaRPr lang="en-MY"/>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endParaRPr lang="en-MY"/>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18208FB7-1885-418E-A26C-50119B85ABD6}" type="slidenum">
              <a:rPr lang="en-MY" smtClean="0"/>
              <a:t>‹#›</a:t>
            </a:fld>
            <a:endParaRPr lang="en-MY"/>
          </a:p>
        </p:txBody>
      </p:sp>
    </p:spTree>
    <p:extLst>
      <p:ext uri="{BB962C8B-B14F-4D97-AF65-F5344CB8AC3E}">
        <p14:creationId xmlns:p14="http://schemas.microsoft.com/office/powerpoint/2010/main" val="22805551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BC41F-3C49-4299-BFDF-78CBFD6B4FDD}" type="datetimeFigureOut">
              <a:rPr lang="en-MY" smtClean="0"/>
              <a:t>31/8/2023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738053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bg2">
                <a:tint val="80000"/>
                <a:shade val="100000"/>
                <a:satMod val="300000"/>
              </a:schemeClr>
            </a:gs>
            <a:gs pos="100000">
              <a:srgbClr val="B1DDFF">
                <a:lumMod val="64000"/>
                <a:lumOff val="36000"/>
              </a:srgb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1BCBC41F-3C49-4299-BFDF-78CBFD6B4FDD}" type="datetimeFigureOut">
              <a:rPr lang="en-MY" smtClean="0"/>
              <a:t>31/8/2023</a:t>
            </a:fld>
            <a:endParaRPr lang="en-MY"/>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endParaRPr lang="en-MY"/>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18208FB7-1885-418E-A26C-50119B85ABD6}" type="slidenum">
              <a:rPr lang="en-MY" smtClean="0"/>
              <a:t>‹#›</a:t>
            </a:fld>
            <a:endParaRPr lang="en-MY"/>
          </a:p>
        </p:txBody>
      </p:sp>
    </p:spTree>
    <p:extLst>
      <p:ext uri="{BB962C8B-B14F-4D97-AF65-F5344CB8AC3E}">
        <p14:creationId xmlns:p14="http://schemas.microsoft.com/office/powerpoint/2010/main" val="42829773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CBC41F-3C49-4299-BFDF-78CBFD6B4FDD}" type="datetimeFigureOut">
              <a:rPr lang="en-MY" smtClean="0"/>
              <a:t>31/8/2023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2230088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CBC41F-3C49-4299-BFDF-78CBFD6B4FDD}" type="datetimeFigureOut">
              <a:rPr lang="en-MY" smtClean="0"/>
              <a:t>31/8/2023</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280502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CBC41F-3C49-4299-BFDF-78CBFD6B4FDD}" type="datetimeFigureOut">
              <a:rPr lang="en-MY" smtClean="0"/>
              <a:t>31/8/2023</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1878343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CBC41F-3C49-4299-BFDF-78CBFD6B4FDD}" type="datetimeFigureOut">
              <a:rPr lang="en-MY" smtClean="0"/>
              <a:t>31/8/2023</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222721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1BCBC41F-3C49-4299-BFDF-78CBFD6B4FDD}" type="datetimeFigureOut">
              <a:rPr lang="en-MY" smtClean="0"/>
              <a:t>31/8/2023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8208FB7-1885-418E-A26C-50119B85ABD6}" type="slidenum">
              <a:rPr lang="en-MY" smtClean="0"/>
              <a:t>‹#›</a:t>
            </a:fld>
            <a:endParaRPr lang="en-MY"/>
          </a:p>
        </p:txBody>
      </p:sp>
    </p:spTree>
    <p:extLst>
      <p:ext uri="{BB962C8B-B14F-4D97-AF65-F5344CB8AC3E}">
        <p14:creationId xmlns:p14="http://schemas.microsoft.com/office/powerpoint/2010/main" val="3475839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1BCBC41F-3C49-4299-BFDF-78CBFD6B4FDD}" type="datetimeFigureOut">
              <a:rPr lang="en-MY" smtClean="0"/>
              <a:t>31/8/2023</a:t>
            </a:fld>
            <a:endParaRPr lang="en-MY"/>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endParaRPr lang="en-MY"/>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18208FB7-1885-418E-A26C-50119B85ABD6}" type="slidenum">
              <a:rPr lang="en-MY" smtClean="0"/>
              <a:t>‹#›</a:t>
            </a:fld>
            <a:endParaRPr lang="en-MY"/>
          </a:p>
        </p:txBody>
      </p:sp>
    </p:spTree>
    <p:extLst>
      <p:ext uri="{BB962C8B-B14F-4D97-AF65-F5344CB8AC3E}">
        <p14:creationId xmlns:p14="http://schemas.microsoft.com/office/powerpoint/2010/main" val="1913034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BC41F-3C49-4299-BFDF-78CBFD6B4FDD}" type="datetimeFigureOut">
              <a:rPr lang="en-MY" smtClean="0"/>
              <a:t>31/8/2023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2238126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CBC41F-3C49-4299-BFDF-78CBFD6B4FDD}" type="datetimeFigureOut">
              <a:rPr lang="en-MY" smtClean="0"/>
              <a:t>31/8/2023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8208FB7-1885-418E-A26C-50119B85ABD6}" type="slidenum">
              <a:rPr lang="en-MY" smtClean="0"/>
              <a:t>‹#›</a:t>
            </a:fld>
            <a:endParaRPr lang="en-MY"/>
          </a:p>
        </p:txBody>
      </p:sp>
    </p:spTree>
    <p:extLst>
      <p:ext uri="{BB962C8B-B14F-4D97-AF65-F5344CB8AC3E}">
        <p14:creationId xmlns:p14="http://schemas.microsoft.com/office/powerpoint/2010/main" val="1411265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1BCBC41F-3C49-4299-BFDF-78CBFD6B4FDD}" type="datetimeFigureOut">
              <a:rPr lang="en-MY" smtClean="0"/>
              <a:t>31/8/2023</a:t>
            </a:fld>
            <a:endParaRPr lang="en-MY"/>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MY"/>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18208FB7-1885-418E-A26C-50119B85ABD6}" type="slidenum">
              <a:rPr lang="en-MY" smtClean="0"/>
              <a:t>‹#›</a:t>
            </a:fld>
            <a:endParaRPr lang="en-MY"/>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424472764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E798-9C99-4C5D-BE25-65965B6EB00C}"/>
              </a:ext>
            </a:extLst>
          </p:cNvPr>
          <p:cNvSpPr>
            <a:spLocks noGrp="1"/>
          </p:cNvSpPr>
          <p:nvPr>
            <p:ph type="ctrTitle"/>
          </p:nvPr>
        </p:nvSpPr>
        <p:spPr/>
        <p:txBody>
          <a:bodyPr/>
          <a:lstStyle/>
          <a:p>
            <a:r>
              <a:rPr lang="en-MY" dirty="0"/>
              <a:t>Topic 3:</a:t>
            </a:r>
            <a:br>
              <a:rPr lang="en-MY" dirty="0"/>
            </a:br>
            <a:r>
              <a:rPr lang="en-MY" dirty="0"/>
              <a:t>variables and types</a:t>
            </a:r>
          </a:p>
        </p:txBody>
      </p:sp>
      <p:sp>
        <p:nvSpPr>
          <p:cNvPr id="3" name="Subtitle 2">
            <a:extLst>
              <a:ext uri="{FF2B5EF4-FFF2-40B4-BE49-F238E27FC236}">
                <a16:creationId xmlns:a16="http://schemas.microsoft.com/office/drawing/2014/main" id="{1DA8A2C0-151C-4CCD-9D82-01F9AD69CE0C}"/>
              </a:ext>
            </a:extLst>
          </p:cNvPr>
          <p:cNvSpPr>
            <a:spLocks noGrp="1"/>
          </p:cNvSpPr>
          <p:nvPr>
            <p:ph type="subTitle" idx="1"/>
          </p:nvPr>
        </p:nvSpPr>
        <p:spPr/>
        <p:txBody>
          <a:bodyPr/>
          <a:lstStyle/>
          <a:p>
            <a:endParaRPr lang="en-MY"/>
          </a:p>
        </p:txBody>
      </p:sp>
    </p:spTree>
    <p:extLst>
      <p:ext uri="{BB962C8B-B14F-4D97-AF65-F5344CB8AC3E}">
        <p14:creationId xmlns:p14="http://schemas.microsoft.com/office/powerpoint/2010/main" val="1083409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8F09-1732-465E-9502-8638F3C17E2F}"/>
              </a:ext>
            </a:extLst>
          </p:cNvPr>
          <p:cNvSpPr>
            <a:spLocks noGrp="1"/>
          </p:cNvSpPr>
          <p:nvPr>
            <p:ph type="title"/>
          </p:nvPr>
        </p:nvSpPr>
        <p:spPr/>
        <p:txBody>
          <a:bodyPr/>
          <a:lstStyle/>
          <a:p>
            <a:pPr algn="ctr"/>
            <a:r>
              <a:rPr lang="en-MY" dirty="0"/>
              <a:t>3.1 DATA TYPES</a:t>
            </a:r>
          </a:p>
        </p:txBody>
      </p:sp>
      <p:sp>
        <p:nvSpPr>
          <p:cNvPr id="3" name="Content Placeholder 2">
            <a:extLst>
              <a:ext uri="{FF2B5EF4-FFF2-40B4-BE49-F238E27FC236}">
                <a16:creationId xmlns:a16="http://schemas.microsoft.com/office/drawing/2014/main" id="{25EA5368-A865-48AE-BEDC-E977ACC1C21C}"/>
              </a:ext>
            </a:extLst>
          </p:cNvPr>
          <p:cNvSpPr>
            <a:spLocks noGrp="1"/>
          </p:cNvSpPr>
          <p:nvPr>
            <p:ph idx="1"/>
          </p:nvPr>
        </p:nvSpPr>
        <p:spPr/>
        <p:txBody>
          <a:bodyPr/>
          <a:lstStyle/>
          <a:p>
            <a:pPr marL="0" indent="0">
              <a:buNone/>
            </a:pPr>
            <a:r>
              <a:rPr lang="en-US" sz="2400" dirty="0"/>
              <a:t>•	Numeric: int, float, complex</a:t>
            </a:r>
          </a:p>
          <a:p>
            <a:pPr marL="0" indent="0">
              <a:buNone/>
            </a:pPr>
            <a:r>
              <a:rPr lang="en-US" sz="2400" dirty="0"/>
              <a:t>•	String: str</a:t>
            </a:r>
          </a:p>
          <a:p>
            <a:pPr marL="0" indent="0">
              <a:buNone/>
            </a:pPr>
            <a:r>
              <a:rPr lang="en-US" sz="2400" dirty="0"/>
              <a:t>•	Sequence: list, tuple, range</a:t>
            </a:r>
          </a:p>
          <a:p>
            <a:pPr marL="0" indent="0">
              <a:buNone/>
            </a:pPr>
            <a:r>
              <a:rPr lang="en-US" sz="2400" dirty="0"/>
              <a:t>•	Binary: bytes, </a:t>
            </a:r>
            <a:r>
              <a:rPr lang="en-US" sz="2400" dirty="0" err="1"/>
              <a:t>bytearray</a:t>
            </a:r>
            <a:r>
              <a:rPr lang="en-US" sz="2400" dirty="0"/>
              <a:t>, </a:t>
            </a:r>
            <a:r>
              <a:rPr lang="en-US" sz="2400" dirty="0" err="1"/>
              <a:t>memoryview</a:t>
            </a:r>
            <a:endParaRPr lang="en-US" sz="2400" dirty="0"/>
          </a:p>
          <a:p>
            <a:pPr marL="0" indent="0">
              <a:buNone/>
            </a:pPr>
            <a:r>
              <a:rPr lang="en-US" sz="2400" dirty="0"/>
              <a:t>•	Mapping: </a:t>
            </a:r>
            <a:r>
              <a:rPr lang="en-US" sz="2400" dirty="0" err="1"/>
              <a:t>dict</a:t>
            </a:r>
            <a:endParaRPr lang="en-US" sz="2400" dirty="0"/>
          </a:p>
          <a:p>
            <a:pPr marL="0" indent="0">
              <a:buNone/>
            </a:pPr>
            <a:r>
              <a:rPr lang="en-US" sz="2400" dirty="0"/>
              <a:t>•	Boolean: bool</a:t>
            </a:r>
          </a:p>
          <a:p>
            <a:pPr marL="0" indent="0">
              <a:buNone/>
            </a:pPr>
            <a:r>
              <a:rPr lang="en-US" sz="2400" dirty="0"/>
              <a:t>•	Set: set, </a:t>
            </a:r>
            <a:r>
              <a:rPr lang="en-US" sz="2400" dirty="0" err="1"/>
              <a:t>frozenset</a:t>
            </a:r>
            <a:endParaRPr lang="en-US" sz="2400" dirty="0"/>
          </a:p>
          <a:p>
            <a:endParaRPr lang="en-MY" dirty="0"/>
          </a:p>
        </p:txBody>
      </p:sp>
    </p:spTree>
    <p:extLst>
      <p:ext uri="{BB962C8B-B14F-4D97-AF65-F5344CB8AC3E}">
        <p14:creationId xmlns:p14="http://schemas.microsoft.com/office/powerpoint/2010/main" val="1017193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7CF2E-CEAE-4045-BEF2-8B5A11BCBF6C}"/>
              </a:ext>
            </a:extLst>
          </p:cNvPr>
          <p:cNvSpPr>
            <a:spLocks noGrp="1"/>
          </p:cNvSpPr>
          <p:nvPr>
            <p:ph idx="1"/>
          </p:nvPr>
        </p:nvSpPr>
        <p:spPr>
          <a:xfrm>
            <a:off x="1066800" y="820271"/>
            <a:ext cx="10058400" cy="5214769"/>
          </a:xfrm>
        </p:spPr>
        <p:txBody>
          <a:bodyPr>
            <a:normAutofit lnSpcReduction="10000"/>
          </a:bodyPr>
          <a:lstStyle/>
          <a:p>
            <a:pPr>
              <a:buFont typeface="Wingdings" panose="05000000000000000000" pitchFamily="2" charset="2"/>
              <a:buChar char="v"/>
            </a:pPr>
            <a:r>
              <a:rPr lang="en-US" sz="2400" b="1" dirty="0"/>
              <a:t>Numeric</a:t>
            </a:r>
            <a:r>
              <a:rPr lang="en-US" sz="2400" dirty="0"/>
              <a:t>: These data types are used to store numbers. The int data type stores whole numbers, the float data type stores floating-point numbers, and the complex data type stores complex numbers</a:t>
            </a:r>
          </a:p>
          <a:p>
            <a:pPr>
              <a:buFont typeface="Wingdings" panose="05000000000000000000" pitchFamily="2" charset="2"/>
              <a:buChar char="v"/>
            </a:pPr>
            <a:endParaRPr lang="en-US" sz="2400" dirty="0"/>
          </a:p>
          <a:p>
            <a:pPr>
              <a:buFont typeface="Wingdings" panose="05000000000000000000" pitchFamily="2" charset="2"/>
              <a:buChar char="v"/>
            </a:pPr>
            <a:r>
              <a:rPr lang="en-US" sz="2400" b="1" dirty="0"/>
              <a:t>String</a:t>
            </a:r>
            <a:r>
              <a:rPr lang="en-US" sz="2400" dirty="0"/>
              <a:t>: This data type is used to store text. Strings are enclosed in single or double quotes.</a:t>
            </a:r>
          </a:p>
          <a:p>
            <a:pPr>
              <a:buFont typeface="Wingdings" panose="05000000000000000000" pitchFamily="2" charset="2"/>
              <a:buChar char="v"/>
            </a:pPr>
            <a:endParaRPr lang="en-US" sz="2400" dirty="0"/>
          </a:p>
          <a:p>
            <a:pPr>
              <a:buFont typeface="Wingdings" panose="05000000000000000000" pitchFamily="2" charset="2"/>
              <a:buChar char="v"/>
            </a:pPr>
            <a:r>
              <a:rPr lang="en-US" sz="2400" b="1" dirty="0"/>
              <a:t>Sequence</a:t>
            </a:r>
            <a:r>
              <a:rPr lang="en-US" sz="2400" dirty="0"/>
              <a:t>: These data types store collections of objects. The list data type is a mutable sequence, which means that its elements can be changed. The tuple data type is an immutable sequence, which means that its elements cannot be changed. The range data type is a sequence of numbers that starts at a specified value and increments by a specified amount</a:t>
            </a:r>
          </a:p>
          <a:p>
            <a:pPr marL="0" indent="0">
              <a:buNone/>
            </a:pPr>
            <a:endParaRPr lang="en-MY" sz="2400" dirty="0"/>
          </a:p>
        </p:txBody>
      </p:sp>
    </p:spTree>
    <p:extLst>
      <p:ext uri="{BB962C8B-B14F-4D97-AF65-F5344CB8AC3E}">
        <p14:creationId xmlns:p14="http://schemas.microsoft.com/office/powerpoint/2010/main" val="311234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37CF2E-CEAE-4045-BEF2-8B5A11BCBF6C}"/>
              </a:ext>
            </a:extLst>
          </p:cNvPr>
          <p:cNvSpPr>
            <a:spLocks noGrp="1"/>
          </p:cNvSpPr>
          <p:nvPr>
            <p:ph idx="1"/>
          </p:nvPr>
        </p:nvSpPr>
        <p:spPr>
          <a:xfrm>
            <a:off x="1066800" y="524435"/>
            <a:ext cx="10058400" cy="5889812"/>
          </a:xfrm>
        </p:spPr>
        <p:txBody>
          <a:bodyPr>
            <a:normAutofit lnSpcReduction="10000"/>
          </a:bodyPr>
          <a:lstStyle/>
          <a:p>
            <a:pPr>
              <a:buFont typeface="Wingdings" panose="05000000000000000000" pitchFamily="2" charset="2"/>
              <a:buChar char="v"/>
            </a:pPr>
            <a:r>
              <a:rPr lang="en-US" sz="2400" b="1" dirty="0"/>
              <a:t>Binary: </a:t>
            </a:r>
            <a:r>
              <a:rPr lang="en-US" sz="2400" dirty="0"/>
              <a:t>These data types are used to store binary data. The bytes data type stores a sequence of bytes, the </a:t>
            </a:r>
            <a:r>
              <a:rPr lang="en-US" sz="2400" dirty="0" err="1"/>
              <a:t>bytearray</a:t>
            </a:r>
            <a:r>
              <a:rPr lang="en-US" sz="2400" dirty="0"/>
              <a:t> data type stores a mutable sequence of bytes, and the </a:t>
            </a:r>
            <a:r>
              <a:rPr lang="en-US" sz="2400" dirty="0" err="1"/>
              <a:t>memoryview</a:t>
            </a:r>
            <a:r>
              <a:rPr lang="en-US" sz="2400" dirty="0"/>
              <a:t> data type stores a view of a memory buffer.</a:t>
            </a:r>
          </a:p>
          <a:p>
            <a:pPr marL="0" indent="0">
              <a:buNone/>
            </a:pPr>
            <a:endParaRPr lang="en-US" sz="2400" dirty="0"/>
          </a:p>
          <a:p>
            <a:pPr>
              <a:buFont typeface="Wingdings" panose="05000000000000000000" pitchFamily="2" charset="2"/>
              <a:buChar char="v"/>
            </a:pPr>
            <a:r>
              <a:rPr lang="en-US" sz="2400" b="1" dirty="0"/>
              <a:t>Mapping: </a:t>
            </a:r>
            <a:r>
              <a:rPr lang="en-US" sz="2400" dirty="0"/>
              <a:t>This data type is used to store key-value pairs. The </a:t>
            </a:r>
            <a:r>
              <a:rPr lang="en-US" sz="2400" dirty="0" err="1"/>
              <a:t>dict</a:t>
            </a:r>
            <a:r>
              <a:rPr lang="en-US" sz="2400" dirty="0"/>
              <a:t> data type is a mutable mapping, which means that its key-value pairs can be changed.</a:t>
            </a:r>
          </a:p>
          <a:p>
            <a:pPr marL="0" indent="0">
              <a:buNone/>
            </a:pPr>
            <a:endParaRPr lang="en-US" sz="2400" dirty="0"/>
          </a:p>
          <a:p>
            <a:pPr>
              <a:buFont typeface="Wingdings" panose="05000000000000000000" pitchFamily="2" charset="2"/>
              <a:buChar char="v"/>
            </a:pPr>
            <a:r>
              <a:rPr lang="en-US" sz="2400" b="1" dirty="0"/>
              <a:t>Boolean: </a:t>
            </a:r>
            <a:r>
              <a:rPr lang="en-US" sz="2400" dirty="0"/>
              <a:t>This data type stores a value of either True or False.</a:t>
            </a:r>
          </a:p>
          <a:p>
            <a:pPr marL="0" indent="0">
              <a:buNone/>
            </a:pPr>
            <a:endParaRPr lang="en-US" sz="2400" dirty="0"/>
          </a:p>
          <a:p>
            <a:pPr>
              <a:buFont typeface="Wingdings" panose="05000000000000000000" pitchFamily="2" charset="2"/>
              <a:buChar char="v"/>
            </a:pPr>
            <a:r>
              <a:rPr lang="en-US" sz="2400" b="1" dirty="0"/>
              <a:t>Set: </a:t>
            </a:r>
            <a:r>
              <a:rPr lang="en-US" sz="2400" dirty="0"/>
              <a:t>This data type stores a collection of unique elements. The set data type is a mutable set, which means that its elements can be changed. The </a:t>
            </a:r>
            <a:r>
              <a:rPr lang="en-US" sz="2400" dirty="0" err="1"/>
              <a:t>frozenset</a:t>
            </a:r>
            <a:r>
              <a:rPr lang="en-US" sz="2400" dirty="0"/>
              <a:t> data type is an immutable set, which means that its elements cannot be changed.</a:t>
            </a:r>
          </a:p>
          <a:p>
            <a:pPr marL="0" indent="0">
              <a:buNone/>
            </a:pPr>
            <a:endParaRPr lang="en-MY" sz="2400" dirty="0"/>
          </a:p>
        </p:txBody>
      </p:sp>
    </p:spTree>
    <p:extLst>
      <p:ext uri="{BB962C8B-B14F-4D97-AF65-F5344CB8AC3E}">
        <p14:creationId xmlns:p14="http://schemas.microsoft.com/office/powerpoint/2010/main" val="423566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4A9ED4-86CE-4C67-AB27-45D57EF2A4F9}"/>
              </a:ext>
            </a:extLst>
          </p:cNvPr>
          <p:cNvSpPr txBox="1"/>
          <p:nvPr/>
        </p:nvSpPr>
        <p:spPr>
          <a:xfrm>
            <a:off x="2474258" y="839944"/>
            <a:ext cx="2481257" cy="2769284"/>
          </a:xfrm>
          <a:prstGeom prst="rect">
            <a:avLst/>
          </a:prstGeom>
          <a:solidFill>
            <a:schemeClr val="accent6">
              <a:lumMod val="50000"/>
            </a:schemeClr>
          </a:solidFill>
        </p:spPr>
        <p:txBody>
          <a:bodyPr wrap="none" rtlCol="0">
            <a:spAutoFit/>
          </a:bodyPr>
          <a:lstStyle/>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#age = 25</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print(age)  # Output: 25 </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 float</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pi = 3.14</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print(pi)  # Output: 3.14 </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c = 3 + 2j</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print(c)  # Output: (3+2j)</a:t>
            </a:r>
          </a:p>
        </p:txBody>
      </p:sp>
      <p:sp>
        <p:nvSpPr>
          <p:cNvPr id="6" name="TextBox 5">
            <a:extLst>
              <a:ext uri="{FF2B5EF4-FFF2-40B4-BE49-F238E27FC236}">
                <a16:creationId xmlns:a16="http://schemas.microsoft.com/office/drawing/2014/main" id="{5305D0A4-3932-4C97-B1A1-C368B824FF11}"/>
              </a:ext>
            </a:extLst>
          </p:cNvPr>
          <p:cNvSpPr txBox="1"/>
          <p:nvPr/>
        </p:nvSpPr>
        <p:spPr>
          <a:xfrm>
            <a:off x="7049352" y="643577"/>
            <a:ext cx="3838230" cy="3162019"/>
          </a:xfrm>
          <a:prstGeom prst="rect">
            <a:avLst/>
          </a:prstGeom>
          <a:solidFill>
            <a:schemeClr val="accent5">
              <a:lumMod val="75000"/>
            </a:schemeClr>
          </a:solidFill>
        </p:spPr>
        <p:txBody>
          <a:bodyPr wrap="none" rtlCol="0">
            <a:spAutoFit/>
          </a:bodyPr>
          <a:lstStyle/>
          <a:p>
            <a:pPr>
              <a:lnSpc>
                <a:spcPct val="107000"/>
              </a:lnSpc>
              <a:spcAft>
                <a:spcPts val="800"/>
              </a:spcAft>
            </a:pPr>
            <a:r>
              <a:rPr lang="en-MY" sz="1800" b="1" kern="100" dirty="0">
                <a:effectLst/>
                <a:latin typeface="Calibri" panose="020F0502020204030204" pitchFamily="34" charset="0"/>
                <a:ea typeface="Calibri" panose="020F0502020204030204" pitchFamily="34" charset="0"/>
                <a:cs typeface="Times New Roman" panose="02020603050405020304" pitchFamily="18" charset="0"/>
              </a:rPr>
              <a:t>Sequence Types:</a:t>
            </a:r>
            <a:endParaRPr lang="en-MY"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name = "John"</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print(name)  # Output: John</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numbers = [1, 2, 3, 4, 5]</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print(numbers)  # Output: [1, 2, 3, 4, 5]</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coordinates = (10, 20)</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print(coordinates)  # Output: (10, 20)</a:t>
            </a:r>
          </a:p>
          <a:p>
            <a:endParaRPr lang="en-MY" dirty="0"/>
          </a:p>
        </p:txBody>
      </p:sp>
      <p:sp>
        <p:nvSpPr>
          <p:cNvPr id="7" name="TextBox 6">
            <a:extLst>
              <a:ext uri="{FF2B5EF4-FFF2-40B4-BE49-F238E27FC236}">
                <a16:creationId xmlns:a16="http://schemas.microsoft.com/office/drawing/2014/main" id="{3F116282-7D16-4EAA-B8EE-1AF2900B7C43}"/>
              </a:ext>
            </a:extLst>
          </p:cNvPr>
          <p:cNvSpPr txBox="1"/>
          <p:nvPr/>
        </p:nvSpPr>
        <p:spPr>
          <a:xfrm>
            <a:off x="2729752" y="4249270"/>
            <a:ext cx="6462859" cy="1965153"/>
          </a:xfrm>
          <a:prstGeom prst="rect">
            <a:avLst/>
          </a:prstGeom>
          <a:solidFill>
            <a:schemeClr val="accent2">
              <a:lumMod val="50000"/>
            </a:schemeClr>
          </a:solidFill>
        </p:spPr>
        <p:txBody>
          <a:bodyPr wrap="none" rtlCol="0">
            <a:spAutoFit/>
          </a:bodyPr>
          <a:lstStyle/>
          <a:p>
            <a:pPr>
              <a:lnSpc>
                <a:spcPct val="107000"/>
              </a:lnSpc>
              <a:spcAft>
                <a:spcPts val="800"/>
              </a:spcAft>
            </a:pPr>
            <a:r>
              <a:rPr lang="en-MY" sz="1800" b="1" kern="100" dirty="0">
                <a:effectLst/>
                <a:latin typeface="Calibri" panose="020F0502020204030204" pitchFamily="34" charset="0"/>
                <a:ea typeface="Calibri" panose="020F0502020204030204" pitchFamily="34" charset="0"/>
                <a:cs typeface="Times New Roman" panose="02020603050405020304" pitchFamily="18" charset="0"/>
              </a:rPr>
              <a:t>Mapping Type:</a:t>
            </a:r>
            <a:endParaRPr lang="en-MY"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MY" sz="1800" b="1" kern="100" dirty="0" err="1">
                <a:effectLst/>
                <a:latin typeface="Calibri" panose="020F0502020204030204" pitchFamily="34" charset="0"/>
                <a:ea typeface="Calibri" panose="020F0502020204030204" pitchFamily="34" charset="0"/>
                <a:cs typeface="Times New Roman" panose="02020603050405020304" pitchFamily="18" charset="0"/>
              </a:rPr>
              <a:t>dict</a:t>
            </a:r>
            <a:r>
              <a:rPr lang="en-MY" sz="1800" b="1" kern="100" dirty="0">
                <a:effectLst/>
                <a:latin typeface="Calibri" panose="020F0502020204030204" pitchFamily="34" charset="0"/>
                <a:ea typeface="Calibri" panose="020F0502020204030204" pitchFamily="34" charset="0"/>
                <a:cs typeface="Times New Roman" panose="02020603050405020304" pitchFamily="18" charset="0"/>
              </a:rPr>
              <a:t>: Represents a collection of key-value pairs.</a:t>
            </a:r>
            <a:endParaRPr lang="en-MY"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person = {'name': 'John', 'age': 30, 'city': 'New York'}</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print(person)  # Output: {'name': 'John', 'age': 30, 'city': 'New York'}</a:t>
            </a:r>
          </a:p>
          <a:p>
            <a:endParaRPr lang="en-MY" dirty="0"/>
          </a:p>
        </p:txBody>
      </p:sp>
    </p:spTree>
    <p:extLst>
      <p:ext uri="{BB962C8B-B14F-4D97-AF65-F5344CB8AC3E}">
        <p14:creationId xmlns:p14="http://schemas.microsoft.com/office/powerpoint/2010/main" val="4092749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4A9ED4-86CE-4C67-AB27-45D57EF2A4F9}"/>
              </a:ext>
            </a:extLst>
          </p:cNvPr>
          <p:cNvSpPr txBox="1"/>
          <p:nvPr/>
        </p:nvSpPr>
        <p:spPr>
          <a:xfrm>
            <a:off x="578222" y="1279242"/>
            <a:ext cx="5853141" cy="2769284"/>
          </a:xfrm>
          <a:prstGeom prst="rect">
            <a:avLst/>
          </a:prstGeom>
          <a:solidFill>
            <a:schemeClr val="accent4">
              <a:lumMod val="50000"/>
            </a:schemeClr>
          </a:solidFill>
        </p:spPr>
        <p:txBody>
          <a:bodyPr wrap="none" rtlCol="0">
            <a:spAutoFit/>
          </a:bodyPr>
          <a:lstStyle/>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Set Types:</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set: Represents an unordered collection of unique elements.</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numbers = {1, 2, 3, 4, 5}</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print(numbers)  # Output: {1, 2, 3, 4, 5}</a:t>
            </a:r>
          </a:p>
          <a:p>
            <a:pPr>
              <a:lnSpc>
                <a:spcPct val="107000"/>
              </a:lnSpc>
              <a:spcAft>
                <a:spcPts val="800"/>
              </a:spcAft>
            </a:pPr>
            <a:r>
              <a:rPr lang="en-MY" sz="1800" kern="100" dirty="0" err="1">
                <a:effectLst/>
                <a:latin typeface="Calibri" panose="020F0502020204030204" pitchFamily="34" charset="0"/>
                <a:ea typeface="Calibri" panose="020F0502020204030204" pitchFamily="34" charset="0"/>
                <a:cs typeface="Times New Roman" panose="02020603050405020304" pitchFamily="18" charset="0"/>
              </a:rPr>
              <a:t>frozenset</a:t>
            </a: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 Represents an immutable set.</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vowels = </a:t>
            </a:r>
            <a:r>
              <a:rPr lang="en-MY" sz="1800" kern="100" dirty="0" err="1">
                <a:effectLst/>
                <a:latin typeface="Calibri" panose="020F0502020204030204" pitchFamily="34" charset="0"/>
                <a:ea typeface="Calibri" panose="020F0502020204030204" pitchFamily="34" charset="0"/>
                <a:cs typeface="Times New Roman" panose="02020603050405020304" pitchFamily="18" charset="0"/>
              </a:rPr>
              <a:t>frozenset</a:t>
            </a: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({'a', 'e', '</a:t>
            </a:r>
            <a:r>
              <a:rPr lang="en-MY" sz="1800" kern="100" dirty="0" err="1">
                <a:effectLst/>
                <a:latin typeface="Calibri" panose="020F0502020204030204" pitchFamily="34" charset="0"/>
                <a:ea typeface="Calibri" panose="020F0502020204030204" pitchFamily="34" charset="0"/>
                <a:cs typeface="Times New Roman" panose="02020603050405020304" pitchFamily="18" charset="0"/>
              </a:rPr>
              <a:t>i</a:t>
            </a: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 'o', 'u'})</a:t>
            </a:r>
          </a:p>
          <a:p>
            <a:pPr>
              <a:lnSpc>
                <a:spcPct val="107000"/>
              </a:lnSpc>
              <a:spcAft>
                <a:spcPts val="800"/>
              </a:spcAft>
            </a:pP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print(vowels)  # Output: </a:t>
            </a:r>
            <a:r>
              <a:rPr lang="en-MY" sz="1800" kern="100" dirty="0" err="1">
                <a:effectLst/>
                <a:latin typeface="Calibri" panose="020F0502020204030204" pitchFamily="34" charset="0"/>
                <a:ea typeface="Calibri" panose="020F0502020204030204" pitchFamily="34" charset="0"/>
                <a:cs typeface="Times New Roman" panose="02020603050405020304" pitchFamily="18" charset="0"/>
              </a:rPr>
              <a:t>frozenset</a:t>
            </a: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({'a', 'e', '</a:t>
            </a:r>
            <a:r>
              <a:rPr lang="en-MY" sz="1800" kern="100" dirty="0" err="1">
                <a:effectLst/>
                <a:latin typeface="Calibri" panose="020F0502020204030204" pitchFamily="34" charset="0"/>
                <a:ea typeface="Calibri" panose="020F0502020204030204" pitchFamily="34" charset="0"/>
                <a:cs typeface="Times New Roman" panose="02020603050405020304" pitchFamily="18" charset="0"/>
              </a:rPr>
              <a:t>i</a:t>
            </a:r>
            <a:r>
              <a:rPr lang="en-MY" sz="1800" kern="100" dirty="0">
                <a:effectLst/>
                <a:latin typeface="Calibri" panose="020F0502020204030204" pitchFamily="34" charset="0"/>
                <a:ea typeface="Calibri" panose="020F0502020204030204" pitchFamily="34" charset="0"/>
                <a:cs typeface="Times New Roman" panose="02020603050405020304" pitchFamily="18" charset="0"/>
              </a:rPr>
              <a:t>', 'o', 'u'})</a:t>
            </a:r>
          </a:p>
        </p:txBody>
      </p:sp>
      <p:sp>
        <p:nvSpPr>
          <p:cNvPr id="6" name="TextBox 5">
            <a:extLst>
              <a:ext uri="{FF2B5EF4-FFF2-40B4-BE49-F238E27FC236}">
                <a16:creationId xmlns:a16="http://schemas.microsoft.com/office/drawing/2014/main" id="{5305D0A4-3932-4C97-B1A1-C368B824FF11}"/>
              </a:ext>
            </a:extLst>
          </p:cNvPr>
          <p:cNvSpPr txBox="1"/>
          <p:nvPr/>
        </p:nvSpPr>
        <p:spPr>
          <a:xfrm>
            <a:off x="6645940" y="764600"/>
            <a:ext cx="4821384" cy="3959930"/>
          </a:xfrm>
          <a:prstGeom prst="rect">
            <a:avLst/>
          </a:prstGeom>
          <a:solidFill>
            <a:schemeClr val="accent1">
              <a:lumMod val="75000"/>
            </a:schemeClr>
          </a:solidFill>
        </p:spPr>
        <p:txBody>
          <a:bodyPr wrap="none" rtlCol="0">
            <a:spAutoFit/>
          </a:bodyPr>
          <a:lstStyle/>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Boolean Type:</a:t>
            </a: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bool: Represents a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boolean</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value (True or False).</a:t>
            </a:r>
          </a:p>
          <a:p>
            <a:pPr>
              <a:lnSpc>
                <a:spcPct val="107000"/>
              </a:lnSpc>
              <a:spcAft>
                <a:spcPts val="800"/>
              </a:spcAft>
            </a:pP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is_valid</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 True</a:t>
            </a: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print(</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is_valid</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 Output: True</a:t>
            </a:r>
          </a:p>
          <a:p>
            <a:pPr>
              <a:lnSpc>
                <a:spcPct val="107000"/>
              </a:lnSpc>
              <a:spcAft>
                <a:spcPts val="800"/>
              </a:spcAft>
            </a:pPr>
            <a:endParaRPr lang="en-US"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None Type:</a:t>
            </a: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None: Represents the absence of a value or null.</a:t>
            </a: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result = None</a:t>
            </a:r>
          </a:p>
          <a:p>
            <a:pPr>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print(result)  # Output: None</a:t>
            </a:r>
          </a:p>
          <a:p>
            <a:endParaRPr lang="en-MY" dirty="0"/>
          </a:p>
        </p:txBody>
      </p:sp>
    </p:spTree>
    <p:extLst>
      <p:ext uri="{BB962C8B-B14F-4D97-AF65-F5344CB8AC3E}">
        <p14:creationId xmlns:p14="http://schemas.microsoft.com/office/powerpoint/2010/main" val="3681493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28B7-AF9A-4E69-A658-D8005F9F48B0}"/>
              </a:ext>
            </a:extLst>
          </p:cNvPr>
          <p:cNvSpPr>
            <a:spLocks noGrp="1"/>
          </p:cNvSpPr>
          <p:nvPr>
            <p:ph type="title"/>
          </p:nvPr>
        </p:nvSpPr>
        <p:spPr/>
        <p:txBody>
          <a:bodyPr/>
          <a:lstStyle/>
          <a:p>
            <a:pPr algn="ctr"/>
            <a:r>
              <a:rPr lang="en-MY" dirty="0"/>
              <a:t>3.2 Python math library</a:t>
            </a:r>
          </a:p>
        </p:txBody>
      </p:sp>
      <p:pic>
        <p:nvPicPr>
          <p:cNvPr id="5" name="Content Placeholder 4">
            <a:extLst>
              <a:ext uri="{FF2B5EF4-FFF2-40B4-BE49-F238E27FC236}">
                <a16:creationId xmlns:a16="http://schemas.microsoft.com/office/drawing/2014/main" id="{817396CA-06DC-42BA-9B03-03B24A8925E5}"/>
              </a:ext>
            </a:extLst>
          </p:cNvPr>
          <p:cNvPicPr>
            <a:picLocks noGrp="1" noChangeAspect="1"/>
          </p:cNvPicPr>
          <p:nvPr>
            <p:ph idx="1"/>
          </p:nvPr>
        </p:nvPicPr>
        <p:blipFill>
          <a:blip r:embed="rId2"/>
          <a:stretch>
            <a:fillRect/>
          </a:stretch>
        </p:blipFill>
        <p:spPr>
          <a:xfrm>
            <a:off x="1066800" y="1910079"/>
            <a:ext cx="10120613" cy="4194886"/>
          </a:xfrm>
        </p:spPr>
      </p:pic>
    </p:spTree>
    <p:extLst>
      <p:ext uri="{BB962C8B-B14F-4D97-AF65-F5344CB8AC3E}">
        <p14:creationId xmlns:p14="http://schemas.microsoft.com/office/powerpoint/2010/main" val="282788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0E9D567-0457-435C-AD5C-7E9E76C6A455}"/>
              </a:ext>
            </a:extLst>
          </p:cNvPr>
          <p:cNvSpPr txBox="1"/>
          <p:nvPr/>
        </p:nvSpPr>
        <p:spPr>
          <a:xfrm>
            <a:off x="3348318" y="458956"/>
            <a:ext cx="4666129" cy="5940088"/>
          </a:xfrm>
          <a:prstGeom prst="rect">
            <a:avLst/>
          </a:prstGeom>
          <a:solidFill>
            <a:schemeClr val="accent6">
              <a:lumMod val="20000"/>
              <a:lumOff val="80000"/>
            </a:schemeClr>
          </a:solidFill>
        </p:spPr>
        <p:txBody>
          <a:bodyPr wrap="square" rtlCol="0">
            <a:spAutoFit/>
          </a:bodyPr>
          <a:lstStyle/>
          <a:p>
            <a:pPr algn="l"/>
            <a:r>
              <a:rPr lang="en-MY" sz="2000" b="1" i="0" u="none" strike="noStrike" baseline="0" dirty="0">
                <a:solidFill>
                  <a:srgbClr val="000000"/>
                </a:solidFill>
                <a:latin typeface="StoneSansITCStd-Bold"/>
              </a:rPr>
              <a:t>Program 2-14 </a:t>
            </a:r>
            <a:r>
              <a:rPr lang="en-MY" sz="2000" b="1" i="0" u="none" strike="noStrike" baseline="0" dirty="0">
                <a:solidFill>
                  <a:srgbClr val="000000"/>
                </a:solidFill>
                <a:latin typeface="ArialMonoMTPro-Bold"/>
              </a:rPr>
              <a:t>(simple_math.py)</a:t>
            </a:r>
          </a:p>
          <a:p>
            <a:pPr algn="l"/>
            <a:r>
              <a:rPr lang="en-US" sz="2000" b="0" i="0" u="none" strike="noStrike" baseline="0" dirty="0">
                <a:solidFill>
                  <a:srgbClr val="1473FF"/>
                </a:solidFill>
                <a:latin typeface="ArialMonoMTPro"/>
              </a:rPr>
              <a:t>1 </a:t>
            </a:r>
            <a:r>
              <a:rPr lang="en-US" sz="2000" b="0" i="0" u="none" strike="noStrike" baseline="0" dirty="0">
                <a:solidFill>
                  <a:srgbClr val="000000"/>
                </a:solidFill>
                <a:latin typeface="ArialMonoMTPro"/>
              </a:rPr>
              <a:t># Assign a value to the salary variable.</a:t>
            </a:r>
          </a:p>
          <a:p>
            <a:pPr algn="l"/>
            <a:r>
              <a:rPr lang="en-MY" sz="2000" b="0" i="0" u="none" strike="noStrike" baseline="0" dirty="0">
                <a:solidFill>
                  <a:srgbClr val="1473FF"/>
                </a:solidFill>
                <a:latin typeface="ArialMonoMTPro"/>
              </a:rPr>
              <a:t>2 </a:t>
            </a:r>
            <a:r>
              <a:rPr lang="en-MY" sz="2000" b="0" i="0" u="none" strike="noStrike" baseline="0" dirty="0">
                <a:solidFill>
                  <a:srgbClr val="000000"/>
                </a:solidFill>
                <a:latin typeface="ArialMonoMTPro"/>
              </a:rPr>
              <a:t>salary = 2500.0</a:t>
            </a:r>
          </a:p>
          <a:p>
            <a:pPr algn="l"/>
            <a:r>
              <a:rPr lang="en-MY" sz="2000" b="0" i="0" u="none" strike="noStrike" baseline="0" dirty="0">
                <a:solidFill>
                  <a:srgbClr val="1473FF"/>
                </a:solidFill>
                <a:latin typeface="ArialMonoMTPro"/>
              </a:rPr>
              <a:t>3</a:t>
            </a:r>
          </a:p>
          <a:p>
            <a:pPr algn="l"/>
            <a:r>
              <a:rPr lang="en-US" sz="2000" b="0" i="0" u="none" strike="noStrike" baseline="0" dirty="0">
                <a:solidFill>
                  <a:srgbClr val="1473FF"/>
                </a:solidFill>
                <a:latin typeface="ArialMonoMTPro"/>
              </a:rPr>
              <a:t>4 </a:t>
            </a:r>
            <a:r>
              <a:rPr lang="en-US" sz="2000" b="0" i="0" u="none" strike="noStrike" baseline="0" dirty="0">
                <a:solidFill>
                  <a:srgbClr val="000000"/>
                </a:solidFill>
                <a:latin typeface="ArialMonoMTPro"/>
              </a:rPr>
              <a:t># Assign a value to the bonus variable.</a:t>
            </a:r>
          </a:p>
          <a:p>
            <a:pPr algn="l"/>
            <a:r>
              <a:rPr lang="en-MY" sz="2000" b="0" i="0" u="none" strike="noStrike" baseline="0" dirty="0">
                <a:solidFill>
                  <a:srgbClr val="1473FF"/>
                </a:solidFill>
                <a:latin typeface="ArialMonoMTPro"/>
              </a:rPr>
              <a:t>5 </a:t>
            </a:r>
            <a:r>
              <a:rPr lang="en-MY" sz="2000" b="0" i="0" u="none" strike="noStrike" baseline="0" dirty="0">
                <a:solidFill>
                  <a:srgbClr val="000000"/>
                </a:solidFill>
                <a:latin typeface="ArialMonoMTPro"/>
              </a:rPr>
              <a:t>bonus = 1200.0</a:t>
            </a:r>
          </a:p>
          <a:p>
            <a:pPr algn="l"/>
            <a:r>
              <a:rPr lang="en-MY" sz="2000" b="0" i="0" u="none" strike="noStrike" baseline="0" dirty="0">
                <a:solidFill>
                  <a:srgbClr val="1473FF"/>
                </a:solidFill>
                <a:latin typeface="ArialMonoMTPro"/>
              </a:rPr>
              <a:t>6</a:t>
            </a:r>
          </a:p>
          <a:p>
            <a:pPr algn="l"/>
            <a:r>
              <a:rPr lang="en-US" sz="2000" b="0" i="0" u="none" strike="noStrike" baseline="0" dirty="0">
                <a:solidFill>
                  <a:srgbClr val="1473FF"/>
                </a:solidFill>
                <a:latin typeface="ArialMonoMTPro"/>
              </a:rPr>
              <a:t>7 </a:t>
            </a:r>
            <a:r>
              <a:rPr lang="en-US" sz="2000" b="0" i="0" u="none" strike="noStrike" baseline="0" dirty="0">
                <a:solidFill>
                  <a:srgbClr val="000000"/>
                </a:solidFill>
                <a:latin typeface="ArialMonoMTPro"/>
              </a:rPr>
              <a:t># Calculate the total pay by adding salary</a:t>
            </a:r>
          </a:p>
          <a:p>
            <a:pPr algn="l"/>
            <a:r>
              <a:rPr lang="en-US" sz="2000" b="0" i="0" u="none" strike="noStrike" baseline="0" dirty="0">
                <a:solidFill>
                  <a:srgbClr val="1473FF"/>
                </a:solidFill>
                <a:latin typeface="ArialMonoMTPro"/>
              </a:rPr>
              <a:t>8 </a:t>
            </a:r>
            <a:r>
              <a:rPr lang="en-US" sz="2000" b="0" i="0" u="none" strike="noStrike" baseline="0" dirty="0">
                <a:solidFill>
                  <a:srgbClr val="000000"/>
                </a:solidFill>
                <a:latin typeface="ArialMonoMTPro"/>
              </a:rPr>
              <a:t># and bonus. Assign the result to pay.</a:t>
            </a:r>
          </a:p>
          <a:p>
            <a:pPr algn="l"/>
            <a:r>
              <a:rPr lang="en-MY" sz="2000" b="0" i="0" u="none" strike="noStrike" baseline="0" dirty="0">
                <a:solidFill>
                  <a:srgbClr val="1473FF"/>
                </a:solidFill>
                <a:latin typeface="ArialMonoMTPro"/>
              </a:rPr>
              <a:t>9 </a:t>
            </a:r>
            <a:r>
              <a:rPr lang="en-MY" sz="2000" b="0" i="0" u="none" strike="noStrike" baseline="0" dirty="0">
                <a:solidFill>
                  <a:srgbClr val="000000"/>
                </a:solidFill>
                <a:latin typeface="ArialMonoMTPro"/>
              </a:rPr>
              <a:t>pay = salary + bonus</a:t>
            </a:r>
          </a:p>
          <a:p>
            <a:pPr algn="l"/>
            <a:r>
              <a:rPr lang="en-MY" sz="2000" b="0" i="0" u="none" strike="noStrike" baseline="0" dirty="0">
                <a:solidFill>
                  <a:srgbClr val="1473FF"/>
                </a:solidFill>
                <a:latin typeface="ArialMonoMTPro"/>
              </a:rPr>
              <a:t>10</a:t>
            </a:r>
          </a:p>
          <a:p>
            <a:pPr algn="l"/>
            <a:r>
              <a:rPr lang="en-MY" sz="2000" b="0" i="0" u="none" strike="noStrike" baseline="0" dirty="0">
                <a:solidFill>
                  <a:srgbClr val="1473FF"/>
                </a:solidFill>
                <a:latin typeface="ArialMonoMTPro"/>
              </a:rPr>
              <a:t>11 </a:t>
            </a:r>
            <a:r>
              <a:rPr lang="en-MY" sz="2000" b="0" i="0" u="none" strike="noStrike" baseline="0" dirty="0">
                <a:solidFill>
                  <a:srgbClr val="000000"/>
                </a:solidFill>
                <a:latin typeface="ArialMonoMTPro"/>
              </a:rPr>
              <a:t># Display the pay.</a:t>
            </a:r>
          </a:p>
          <a:p>
            <a:pPr algn="l"/>
            <a:r>
              <a:rPr lang="en-US" sz="2000" b="0" i="0" u="none" strike="noStrike" baseline="0" dirty="0">
                <a:solidFill>
                  <a:srgbClr val="1473FF"/>
                </a:solidFill>
                <a:latin typeface="ArialMonoMTPro"/>
              </a:rPr>
              <a:t>12 </a:t>
            </a:r>
            <a:r>
              <a:rPr lang="en-US" sz="2000" b="0" i="0" u="none" strike="noStrike" baseline="0" dirty="0">
                <a:solidFill>
                  <a:srgbClr val="000000"/>
                </a:solidFill>
                <a:latin typeface="ArialMonoMTPro"/>
              </a:rPr>
              <a:t>print('Your pay is', pay)</a:t>
            </a:r>
          </a:p>
          <a:p>
            <a:pPr algn="l"/>
            <a:endParaRPr lang="en-US" sz="2000" dirty="0">
              <a:solidFill>
                <a:schemeClr val="accent4">
                  <a:lumMod val="50000"/>
                </a:schemeClr>
              </a:solidFill>
              <a:latin typeface="ArialMonoMTPro"/>
            </a:endParaRPr>
          </a:p>
          <a:p>
            <a:pPr algn="l"/>
            <a:r>
              <a:rPr lang="en-MY" sz="2000" b="1" i="0" u="none" strike="noStrike" baseline="0" dirty="0">
                <a:solidFill>
                  <a:schemeClr val="accent4">
                    <a:lumMod val="50000"/>
                  </a:schemeClr>
                </a:solidFill>
                <a:latin typeface="StoneSansITCStd-Bold"/>
              </a:rPr>
              <a:t>Program Output</a:t>
            </a:r>
          </a:p>
          <a:p>
            <a:pPr algn="l"/>
            <a:r>
              <a:rPr lang="en-MY" sz="2000" b="0" i="0" u="none" strike="noStrike" baseline="0" dirty="0">
                <a:solidFill>
                  <a:schemeClr val="accent4">
                    <a:lumMod val="50000"/>
                  </a:schemeClr>
                </a:solidFill>
                <a:latin typeface="ArialMonoMTPro"/>
              </a:rPr>
              <a:t>Your pay is 3700.0</a:t>
            </a:r>
            <a:endParaRPr lang="en-MY" sz="2000" dirty="0">
              <a:solidFill>
                <a:schemeClr val="accent4">
                  <a:lumMod val="50000"/>
                </a:schemeClr>
              </a:solidFill>
            </a:endParaRPr>
          </a:p>
        </p:txBody>
      </p:sp>
    </p:spTree>
    <p:extLst>
      <p:ext uri="{BB962C8B-B14F-4D97-AF65-F5344CB8AC3E}">
        <p14:creationId xmlns:p14="http://schemas.microsoft.com/office/powerpoint/2010/main" val="355886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8297-056F-49B6-80CF-BE653EC14112}"/>
              </a:ext>
            </a:extLst>
          </p:cNvPr>
          <p:cNvSpPr>
            <a:spLocks noGrp="1"/>
          </p:cNvSpPr>
          <p:nvPr>
            <p:ph type="title"/>
          </p:nvPr>
        </p:nvSpPr>
        <p:spPr>
          <a:xfrm>
            <a:off x="1201271" y="118159"/>
            <a:ext cx="10058400" cy="1371600"/>
          </a:xfrm>
        </p:spPr>
        <p:txBody>
          <a:bodyPr>
            <a:normAutofit/>
          </a:bodyPr>
          <a:lstStyle/>
          <a:p>
            <a:pPr algn="ctr"/>
            <a:r>
              <a:rPr lang="en-MY" sz="4400" dirty="0"/>
              <a:t>Calculating a percentage</a:t>
            </a:r>
          </a:p>
        </p:txBody>
      </p:sp>
      <p:sp>
        <p:nvSpPr>
          <p:cNvPr id="5" name="TextBox 4">
            <a:extLst>
              <a:ext uri="{FF2B5EF4-FFF2-40B4-BE49-F238E27FC236}">
                <a16:creationId xmlns:a16="http://schemas.microsoft.com/office/drawing/2014/main" id="{50D4296A-B40F-4451-B8AE-22F2A3B6DDD8}"/>
              </a:ext>
            </a:extLst>
          </p:cNvPr>
          <p:cNvSpPr txBox="1"/>
          <p:nvPr/>
        </p:nvSpPr>
        <p:spPr>
          <a:xfrm>
            <a:off x="2554941" y="1264023"/>
            <a:ext cx="6514925" cy="4801314"/>
          </a:xfrm>
          <a:prstGeom prst="rect">
            <a:avLst/>
          </a:prstGeom>
          <a:solidFill>
            <a:schemeClr val="accent3">
              <a:lumMod val="20000"/>
              <a:lumOff val="80000"/>
            </a:schemeClr>
          </a:solidFill>
        </p:spPr>
        <p:txBody>
          <a:bodyPr wrap="none" rtlCol="0">
            <a:spAutoFit/>
          </a:bodyPr>
          <a:lstStyle/>
          <a:p>
            <a:pPr algn="l"/>
            <a:r>
              <a:rPr lang="en-MY" sz="1800" b="1" i="0" u="none" strike="noStrike" baseline="0" dirty="0">
                <a:solidFill>
                  <a:srgbClr val="000000"/>
                </a:solidFill>
                <a:latin typeface="StoneSansITCStd-Bold"/>
              </a:rPr>
              <a:t>Program 2-15 </a:t>
            </a:r>
            <a:r>
              <a:rPr lang="en-MY" sz="1800" b="1" i="0" u="none" strike="noStrike" baseline="0" dirty="0">
                <a:solidFill>
                  <a:srgbClr val="000000"/>
                </a:solidFill>
                <a:latin typeface="ArialMonoMTPro-Bold"/>
              </a:rPr>
              <a:t>(sale_price.py)</a:t>
            </a:r>
          </a:p>
          <a:p>
            <a:pPr algn="l"/>
            <a:r>
              <a:rPr lang="en-US" sz="1800" b="0" i="0" u="none" strike="noStrike" baseline="0" dirty="0">
                <a:solidFill>
                  <a:srgbClr val="1473FF"/>
                </a:solidFill>
                <a:latin typeface="ArialMonoMTPro"/>
              </a:rPr>
              <a:t>1 </a:t>
            </a:r>
            <a:r>
              <a:rPr lang="en-US" sz="1800" b="0" i="0" u="none" strike="noStrike" baseline="0" dirty="0">
                <a:solidFill>
                  <a:srgbClr val="000000"/>
                </a:solidFill>
                <a:latin typeface="ArialMonoMTPro"/>
              </a:rPr>
              <a:t># This program gets an item's original price and</a:t>
            </a:r>
          </a:p>
          <a:p>
            <a:pPr algn="l"/>
            <a:r>
              <a:rPr lang="en-US" sz="1800" b="0" i="0" u="none" strike="noStrike" baseline="0" dirty="0">
                <a:solidFill>
                  <a:srgbClr val="1473FF"/>
                </a:solidFill>
                <a:latin typeface="ArialMonoMTPro"/>
              </a:rPr>
              <a:t>2 </a:t>
            </a:r>
            <a:r>
              <a:rPr lang="en-US" sz="1800" b="0" i="0" u="none" strike="noStrike" baseline="0" dirty="0">
                <a:solidFill>
                  <a:srgbClr val="000000"/>
                </a:solidFill>
                <a:latin typeface="ArialMonoMTPro"/>
              </a:rPr>
              <a:t># calculates its sale price, with a 20% discount.</a:t>
            </a:r>
          </a:p>
          <a:p>
            <a:pPr algn="l"/>
            <a:r>
              <a:rPr lang="en-US" sz="1800" b="0" i="0" u="none" strike="noStrike" baseline="0" dirty="0">
                <a:solidFill>
                  <a:srgbClr val="1473FF"/>
                </a:solidFill>
                <a:latin typeface="ArialMonoMTPro"/>
              </a:rPr>
              <a:t>4 </a:t>
            </a:r>
            <a:r>
              <a:rPr lang="en-US" sz="1800" b="0" i="0" u="none" strike="noStrike" baseline="0" dirty="0">
                <a:solidFill>
                  <a:srgbClr val="000000"/>
                </a:solidFill>
                <a:latin typeface="ArialMonoMTPro"/>
              </a:rPr>
              <a:t># Get the item's original price.</a:t>
            </a:r>
          </a:p>
          <a:p>
            <a:pPr algn="l"/>
            <a:r>
              <a:rPr lang="en-US" sz="1800" b="0" i="0" u="none" strike="noStrike" baseline="0" dirty="0">
                <a:solidFill>
                  <a:srgbClr val="1473FF"/>
                </a:solidFill>
                <a:latin typeface="ArialMonoMTPro"/>
              </a:rPr>
              <a:t>5 </a:t>
            </a:r>
            <a:r>
              <a:rPr lang="en-US" sz="1800" b="0" i="0" u="none" strike="noStrike" baseline="0" dirty="0" err="1">
                <a:solidFill>
                  <a:srgbClr val="000000"/>
                </a:solidFill>
                <a:latin typeface="ArialMonoMTPro"/>
              </a:rPr>
              <a:t>original_price</a:t>
            </a:r>
            <a:r>
              <a:rPr lang="en-US" sz="1800" b="0" i="0" u="none" strike="noStrike" baseline="0" dirty="0">
                <a:solidFill>
                  <a:srgbClr val="000000"/>
                </a:solidFill>
                <a:latin typeface="ArialMonoMTPro"/>
              </a:rPr>
              <a:t> = float(input("Enter the item's original price: "))</a:t>
            </a:r>
          </a:p>
          <a:p>
            <a:pPr algn="l"/>
            <a:r>
              <a:rPr lang="en-MY" sz="1800" b="0" i="0" u="none" strike="noStrike" baseline="0" dirty="0">
                <a:solidFill>
                  <a:srgbClr val="1473FF"/>
                </a:solidFill>
                <a:latin typeface="ArialMonoMTPro"/>
              </a:rPr>
              <a:t>6</a:t>
            </a:r>
          </a:p>
          <a:p>
            <a:pPr algn="l"/>
            <a:r>
              <a:rPr lang="en-US" sz="1800" b="0" i="0" u="none" strike="noStrike" baseline="0" dirty="0">
                <a:solidFill>
                  <a:srgbClr val="1473FF"/>
                </a:solidFill>
                <a:latin typeface="ArialMonoMTPro"/>
              </a:rPr>
              <a:t>7 </a:t>
            </a:r>
            <a:r>
              <a:rPr lang="en-US" sz="1800" b="0" i="0" u="none" strike="noStrike" baseline="0" dirty="0">
                <a:solidFill>
                  <a:srgbClr val="000000"/>
                </a:solidFill>
                <a:latin typeface="ArialMonoMTPro"/>
              </a:rPr>
              <a:t># Calculate the amount of the discount.</a:t>
            </a:r>
          </a:p>
          <a:p>
            <a:pPr algn="l"/>
            <a:r>
              <a:rPr lang="en-US" sz="1800" b="0" i="0" u="none" strike="noStrike" baseline="0" dirty="0">
                <a:solidFill>
                  <a:srgbClr val="1473FF"/>
                </a:solidFill>
                <a:latin typeface="ArialMonoMTPro"/>
              </a:rPr>
              <a:t>8 </a:t>
            </a:r>
            <a:r>
              <a:rPr lang="en-US" sz="1800" b="0" i="0" u="none" strike="noStrike" baseline="0" dirty="0">
                <a:solidFill>
                  <a:srgbClr val="000000"/>
                </a:solidFill>
                <a:latin typeface="ArialMonoMTPro"/>
              </a:rPr>
              <a:t>discount = </a:t>
            </a:r>
            <a:r>
              <a:rPr lang="en-US" sz="1800" b="0" i="0" u="none" strike="noStrike" baseline="0" dirty="0" err="1">
                <a:solidFill>
                  <a:srgbClr val="000000"/>
                </a:solidFill>
                <a:latin typeface="ArialMonoMTPro"/>
              </a:rPr>
              <a:t>original_price</a:t>
            </a:r>
            <a:r>
              <a:rPr lang="en-US" sz="1800" b="0" i="0" u="none" strike="noStrike" baseline="0" dirty="0">
                <a:solidFill>
                  <a:srgbClr val="000000"/>
                </a:solidFill>
                <a:latin typeface="ArialMonoMTPro"/>
              </a:rPr>
              <a:t> * 0.2</a:t>
            </a:r>
          </a:p>
          <a:p>
            <a:pPr algn="l"/>
            <a:r>
              <a:rPr lang="en-MY" sz="1800" b="0" i="0" u="none" strike="noStrike" baseline="0" dirty="0">
                <a:solidFill>
                  <a:srgbClr val="1473FF"/>
                </a:solidFill>
                <a:latin typeface="ArialMonoMTPro"/>
              </a:rPr>
              <a:t>9</a:t>
            </a:r>
          </a:p>
          <a:p>
            <a:pPr algn="l"/>
            <a:r>
              <a:rPr lang="en-US" sz="1800" b="0" i="0" u="none" strike="noStrike" baseline="0" dirty="0">
                <a:solidFill>
                  <a:srgbClr val="1473FF"/>
                </a:solidFill>
                <a:latin typeface="ArialMonoMTPro"/>
              </a:rPr>
              <a:t>10 </a:t>
            </a:r>
            <a:r>
              <a:rPr lang="en-US" sz="1800" b="0" i="0" u="none" strike="noStrike" baseline="0" dirty="0">
                <a:solidFill>
                  <a:srgbClr val="000000"/>
                </a:solidFill>
                <a:latin typeface="ArialMonoMTPro"/>
              </a:rPr>
              <a:t># Calculate the sale price.</a:t>
            </a:r>
          </a:p>
          <a:p>
            <a:pPr algn="l"/>
            <a:r>
              <a:rPr lang="en-US" sz="1800" b="0" i="0" u="none" strike="noStrike" baseline="0" dirty="0">
                <a:solidFill>
                  <a:srgbClr val="1473FF"/>
                </a:solidFill>
                <a:latin typeface="ArialMonoMTPro"/>
              </a:rPr>
              <a:t>11 </a:t>
            </a:r>
            <a:r>
              <a:rPr lang="en-US" sz="1800" b="0" i="0" u="none" strike="noStrike" baseline="0" dirty="0" err="1">
                <a:solidFill>
                  <a:srgbClr val="000000"/>
                </a:solidFill>
                <a:latin typeface="ArialMonoMTPro"/>
              </a:rPr>
              <a:t>sale_price</a:t>
            </a:r>
            <a:r>
              <a:rPr lang="en-US" sz="1800" b="0" i="0" u="none" strike="noStrike" baseline="0" dirty="0">
                <a:solidFill>
                  <a:srgbClr val="000000"/>
                </a:solidFill>
                <a:latin typeface="ArialMonoMTPro"/>
              </a:rPr>
              <a:t> = </a:t>
            </a:r>
            <a:r>
              <a:rPr lang="en-US" sz="1800" b="0" i="0" u="none" strike="noStrike" baseline="0" dirty="0" err="1">
                <a:solidFill>
                  <a:srgbClr val="000000"/>
                </a:solidFill>
                <a:latin typeface="ArialMonoMTPro"/>
              </a:rPr>
              <a:t>original_price</a:t>
            </a:r>
            <a:r>
              <a:rPr lang="en-US" sz="1800" b="0" i="0" u="none" strike="noStrike" baseline="0" dirty="0">
                <a:solidFill>
                  <a:srgbClr val="000000"/>
                </a:solidFill>
                <a:latin typeface="ArialMonoMTPro"/>
              </a:rPr>
              <a:t> − discount</a:t>
            </a:r>
          </a:p>
          <a:p>
            <a:pPr algn="l"/>
            <a:r>
              <a:rPr lang="en-MY" sz="1800" b="0" i="0" u="none" strike="noStrike" baseline="0" dirty="0">
                <a:solidFill>
                  <a:srgbClr val="1473FF"/>
                </a:solidFill>
                <a:latin typeface="ArialMonoMTPro"/>
              </a:rPr>
              <a:t>12</a:t>
            </a:r>
          </a:p>
          <a:p>
            <a:pPr algn="l"/>
            <a:r>
              <a:rPr lang="en-US" sz="1800" b="0" i="0" u="none" strike="noStrike" baseline="0" dirty="0">
                <a:solidFill>
                  <a:srgbClr val="1473FF"/>
                </a:solidFill>
                <a:latin typeface="ArialMonoMTPro"/>
              </a:rPr>
              <a:t>13 </a:t>
            </a:r>
            <a:r>
              <a:rPr lang="en-US" sz="1800" b="0" i="0" u="none" strike="noStrike" baseline="0" dirty="0">
                <a:solidFill>
                  <a:srgbClr val="000000"/>
                </a:solidFill>
                <a:latin typeface="ArialMonoMTPro"/>
              </a:rPr>
              <a:t># Display the sale price.</a:t>
            </a:r>
          </a:p>
          <a:p>
            <a:pPr algn="l"/>
            <a:r>
              <a:rPr lang="en-US" sz="1800" b="0" i="0" u="none" strike="noStrike" baseline="0" dirty="0">
                <a:solidFill>
                  <a:srgbClr val="1473FF"/>
                </a:solidFill>
                <a:latin typeface="ArialMonoMTPro"/>
              </a:rPr>
              <a:t>14 </a:t>
            </a:r>
            <a:r>
              <a:rPr lang="en-US" sz="1800" b="0" i="0" u="none" strike="noStrike" baseline="0" dirty="0">
                <a:solidFill>
                  <a:srgbClr val="000000"/>
                </a:solidFill>
                <a:latin typeface="ArialMonoMTPro"/>
              </a:rPr>
              <a:t>print('The sale price is', </a:t>
            </a:r>
            <a:r>
              <a:rPr lang="en-US" sz="1800" b="0" i="0" u="none" strike="noStrike" baseline="0" dirty="0" err="1">
                <a:solidFill>
                  <a:srgbClr val="000000"/>
                </a:solidFill>
                <a:latin typeface="ArialMonoMTPro"/>
              </a:rPr>
              <a:t>sale_price</a:t>
            </a:r>
            <a:r>
              <a:rPr lang="en-US" sz="1800" b="0" i="0" u="none" strike="noStrike" baseline="0" dirty="0">
                <a:solidFill>
                  <a:srgbClr val="000000"/>
                </a:solidFill>
                <a:latin typeface="ArialMonoMTPro"/>
              </a:rPr>
              <a:t>)</a:t>
            </a:r>
            <a:endParaRPr lang="en-US" dirty="0">
              <a:solidFill>
                <a:srgbClr val="000000"/>
              </a:solidFill>
              <a:latin typeface="ArialMonoMTPro"/>
            </a:endParaRPr>
          </a:p>
          <a:p>
            <a:pPr algn="l"/>
            <a:r>
              <a:rPr lang="en-US" sz="1800" b="1" i="0" u="none" strike="noStrike" baseline="0" dirty="0">
                <a:solidFill>
                  <a:schemeClr val="accent6">
                    <a:lumMod val="50000"/>
                  </a:schemeClr>
                </a:solidFill>
                <a:latin typeface="StoneSansITCStd-Bold"/>
              </a:rPr>
              <a:t>Program Output </a:t>
            </a:r>
            <a:r>
              <a:rPr lang="en-US" sz="1800" b="0" i="0" u="none" strike="noStrike" baseline="0" dirty="0">
                <a:solidFill>
                  <a:schemeClr val="accent6">
                    <a:lumMod val="50000"/>
                  </a:schemeClr>
                </a:solidFill>
                <a:latin typeface="StoneSansITCStd-Medium"/>
              </a:rPr>
              <a:t>(with input shown in bold)</a:t>
            </a:r>
          </a:p>
          <a:p>
            <a:pPr algn="l"/>
            <a:r>
              <a:rPr lang="en-US" sz="1800" b="0" i="0" u="none" strike="noStrike" baseline="0" dirty="0">
                <a:solidFill>
                  <a:schemeClr val="accent6">
                    <a:lumMod val="50000"/>
                  </a:schemeClr>
                </a:solidFill>
                <a:latin typeface="ArialMonoMTPro"/>
              </a:rPr>
              <a:t>Enter the item's original price: </a:t>
            </a:r>
            <a:r>
              <a:rPr lang="en-US" sz="1800" b="1" i="0" u="none" strike="noStrike" baseline="0" dirty="0">
                <a:solidFill>
                  <a:schemeClr val="accent6">
                    <a:lumMod val="50000"/>
                  </a:schemeClr>
                </a:solidFill>
                <a:latin typeface="StoneSansITCStd-Bold"/>
              </a:rPr>
              <a:t>100.00 </a:t>
            </a:r>
            <a:endParaRPr lang="en-US" sz="1800" b="1" i="0" u="none" strike="noStrike" baseline="0" dirty="0">
              <a:solidFill>
                <a:schemeClr val="accent6">
                  <a:lumMod val="50000"/>
                </a:schemeClr>
              </a:solidFill>
              <a:latin typeface="ArialMonoMTPro-Bold"/>
            </a:endParaRPr>
          </a:p>
          <a:p>
            <a:pPr algn="l"/>
            <a:r>
              <a:rPr lang="en-US" sz="1800" b="0" i="0" u="none" strike="noStrike" baseline="0" dirty="0">
                <a:solidFill>
                  <a:schemeClr val="accent6">
                    <a:lumMod val="50000"/>
                  </a:schemeClr>
                </a:solidFill>
                <a:latin typeface="ArialMonoMTPro"/>
              </a:rPr>
              <a:t>The sale price is 80.0</a:t>
            </a:r>
            <a:endParaRPr lang="en-MY" dirty="0">
              <a:solidFill>
                <a:schemeClr val="accent6">
                  <a:lumMod val="50000"/>
                </a:schemeClr>
              </a:solidFill>
            </a:endParaRPr>
          </a:p>
        </p:txBody>
      </p:sp>
    </p:spTree>
    <p:extLst>
      <p:ext uri="{BB962C8B-B14F-4D97-AF65-F5344CB8AC3E}">
        <p14:creationId xmlns:p14="http://schemas.microsoft.com/office/powerpoint/2010/main" val="186653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52EC-9065-42DE-B031-35CA76743835}"/>
              </a:ext>
            </a:extLst>
          </p:cNvPr>
          <p:cNvSpPr>
            <a:spLocks noGrp="1"/>
          </p:cNvSpPr>
          <p:nvPr>
            <p:ph type="title"/>
          </p:nvPr>
        </p:nvSpPr>
        <p:spPr>
          <a:xfrm>
            <a:off x="1241612" y="137160"/>
            <a:ext cx="10058400" cy="1371600"/>
          </a:xfrm>
        </p:spPr>
        <p:txBody>
          <a:bodyPr>
            <a:normAutofit fontScale="90000"/>
          </a:bodyPr>
          <a:lstStyle/>
          <a:p>
            <a:r>
              <a:rPr lang="en-MY" dirty="0"/>
              <a:t>Floating-Point and Integer Division</a:t>
            </a:r>
          </a:p>
        </p:txBody>
      </p:sp>
      <p:sp>
        <p:nvSpPr>
          <p:cNvPr id="3" name="Content Placeholder 2">
            <a:extLst>
              <a:ext uri="{FF2B5EF4-FFF2-40B4-BE49-F238E27FC236}">
                <a16:creationId xmlns:a16="http://schemas.microsoft.com/office/drawing/2014/main" id="{391FDA7A-F835-49D1-8B03-27F346E65D8E}"/>
              </a:ext>
            </a:extLst>
          </p:cNvPr>
          <p:cNvSpPr>
            <a:spLocks noGrp="1"/>
          </p:cNvSpPr>
          <p:nvPr>
            <p:ph idx="1"/>
          </p:nvPr>
        </p:nvSpPr>
        <p:spPr>
          <a:xfrm>
            <a:off x="1066800" y="1508760"/>
            <a:ext cx="10058400" cy="4526280"/>
          </a:xfrm>
        </p:spPr>
        <p:txBody>
          <a:bodyPr>
            <a:normAutofit/>
          </a:bodyPr>
          <a:lstStyle/>
          <a:p>
            <a:r>
              <a:rPr lang="en-US" dirty="0"/>
              <a:t>The / operator performs floating-point division, and the // operator performs integer division. Both operators divide one number by another. The difference between them is that the / operator gives the result as a floating-point value, and the // operator gives the result as a whole number.</a:t>
            </a:r>
          </a:p>
          <a:p>
            <a:pPr>
              <a:buFont typeface="Wingdings" panose="05000000000000000000" pitchFamily="2" charset="2"/>
              <a:buChar char="ü"/>
            </a:pPr>
            <a:r>
              <a:rPr lang="en-US" dirty="0"/>
              <a:t>Let’s use the interactive mode interpreter to demonstrate:</a:t>
            </a:r>
          </a:p>
          <a:p>
            <a:pPr marL="0" indent="0">
              <a:buNone/>
            </a:pPr>
            <a:r>
              <a:rPr lang="en-US" b="1" dirty="0"/>
              <a:t> &gt;&gt;&gt; 5 / 2 Enter</a:t>
            </a:r>
          </a:p>
          <a:p>
            <a:pPr marL="0" indent="0">
              <a:buNone/>
            </a:pPr>
            <a:r>
              <a:rPr lang="en-US" b="1" dirty="0"/>
              <a:t> 2.5</a:t>
            </a:r>
          </a:p>
          <a:p>
            <a:r>
              <a:rPr lang="en-US" dirty="0"/>
              <a:t>In this session, we used the / operator to divide 5 by 2. As expected, the result is 2.5. Now</a:t>
            </a:r>
          </a:p>
          <a:p>
            <a:pPr>
              <a:buFont typeface="Wingdings" panose="05000000000000000000" pitchFamily="2" charset="2"/>
              <a:buChar char="ü"/>
            </a:pPr>
            <a:r>
              <a:rPr lang="en-US" dirty="0"/>
              <a:t>Let’s use the // operator to perform integer division:</a:t>
            </a:r>
          </a:p>
          <a:p>
            <a:pPr marL="0" indent="0">
              <a:buNone/>
            </a:pPr>
            <a:r>
              <a:rPr lang="en-US" b="1" dirty="0"/>
              <a:t>&gt;&gt;&gt; 5 // 2 Enter</a:t>
            </a:r>
          </a:p>
          <a:p>
            <a:pPr marL="0" indent="0">
              <a:buNone/>
            </a:pPr>
            <a:r>
              <a:rPr lang="en-US" b="1" dirty="0"/>
              <a:t>2</a:t>
            </a:r>
          </a:p>
          <a:p>
            <a:pPr marL="0" indent="0">
              <a:buNone/>
            </a:pPr>
            <a:endParaRPr lang="en-MY" dirty="0"/>
          </a:p>
        </p:txBody>
      </p:sp>
      <p:sp>
        <p:nvSpPr>
          <p:cNvPr id="4" name="TextBox 3">
            <a:extLst>
              <a:ext uri="{FF2B5EF4-FFF2-40B4-BE49-F238E27FC236}">
                <a16:creationId xmlns:a16="http://schemas.microsoft.com/office/drawing/2014/main" id="{8EFA2CE0-6E39-436A-94AC-97C7856CCF66}"/>
              </a:ext>
            </a:extLst>
          </p:cNvPr>
          <p:cNvSpPr txBox="1"/>
          <p:nvPr/>
        </p:nvSpPr>
        <p:spPr>
          <a:xfrm>
            <a:off x="9090212" y="4988859"/>
            <a:ext cx="2334293" cy="1200329"/>
          </a:xfrm>
          <a:prstGeom prst="rect">
            <a:avLst/>
          </a:prstGeom>
          <a:noFill/>
          <a:ln w="28575">
            <a:solidFill>
              <a:schemeClr val="accent1">
                <a:lumMod val="60000"/>
                <a:lumOff val="40000"/>
              </a:schemeClr>
            </a:solidFill>
          </a:ln>
        </p:spPr>
        <p:txBody>
          <a:bodyPr wrap="none" rtlCol="0">
            <a:spAutoFit/>
          </a:bodyPr>
          <a:lstStyle/>
          <a:p>
            <a:pPr algn="l"/>
            <a:r>
              <a:rPr lang="en-MY" sz="1800" b="0" i="0" u="none" strike="noStrike" baseline="0" dirty="0">
                <a:latin typeface="ArialMonoMTPro"/>
              </a:rPr>
              <a:t>5 + 2 * 4               </a:t>
            </a:r>
            <a:r>
              <a:rPr lang="en-MY" sz="1800" b="0" i="0" u="none" strike="noStrike" baseline="0" dirty="0">
                <a:latin typeface="SabonLTPro-Roman"/>
              </a:rPr>
              <a:t>13</a:t>
            </a:r>
          </a:p>
          <a:p>
            <a:pPr algn="l"/>
            <a:r>
              <a:rPr lang="en-MY" sz="1800" b="0" i="0" u="none" strike="noStrike" baseline="0" dirty="0">
                <a:latin typeface="ArialMonoMTPro"/>
              </a:rPr>
              <a:t>10 / 2 − 3             </a:t>
            </a:r>
            <a:r>
              <a:rPr lang="en-MY" sz="1800" b="0" i="0" u="none" strike="noStrike" baseline="0" dirty="0">
                <a:latin typeface="SabonLTPro-Roman"/>
              </a:rPr>
              <a:t>2.0</a:t>
            </a:r>
          </a:p>
          <a:p>
            <a:pPr algn="l"/>
            <a:r>
              <a:rPr lang="en-MY" sz="1800" b="0" i="0" u="none" strike="noStrike" baseline="0" dirty="0">
                <a:latin typeface="ArialMonoMTPro"/>
              </a:rPr>
              <a:t>8 + 12 * 2 − 4       </a:t>
            </a:r>
            <a:r>
              <a:rPr lang="en-MY" sz="1800" b="0" i="0" u="none" strike="noStrike" baseline="0" dirty="0">
                <a:latin typeface="SabonLTPro-Roman"/>
              </a:rPr>
              <a:t>28</a:t>
            </a:r>
          </a:p>
          <a:p>
            <a:pPr algn="l"/>
            <a:r>
              <a:rPr lang="en-MY" sz="1800" b="0" i="0" u="none" strike="noStrike" baseline="0" dirty="0">
                <a:latin typeface="ArialMonoMTPro"/>
              </a:rPr>
              <a:t>6 − 3 * 2 + 7 −      1</a:t>
            </a:r>
            <a:r>
              <a:rPr lang="en-MY" sz="1800" b="0" i="0" u="none" strike="noStrike" baseline="0" dirty="0">
                <a:latin typeface="SabonLTPro-Roman"/>
              </a:rPr>
              <a:t>6</a:t>
            </a:r>
            <a:endParaRPr lang="en-MY" dirty="0"/>
          </a:p>
        </p:txBody>
      </p:sp>
    </p:spTree>
    <p:extLst>
      <p:ext uri="{BB962C8B-B14F-4D97-AF65-F5344CB8AC3E}">
        <p14:creationId xmlns:p14="http://schemas.microsoft.com/office/powerpoint/2010/main" val="2498777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B5CC280-5F9B-40DF-962A-1D89E798C1C5}"/>
              </a:ext>
            </a:extLst>
          </p:cNvPr>
          <p:cNvSpPr txBox="1"/>
          <p:nvPr/>
        </p:nvSpPr>
        <p:spPr>
          <a:xfrm>
            <a:off x="2689412" y="766482"/>
            <a:ext cx="5553635" cy="5078313"/>
          </a:xfrm>
          <a:prstGeom prst="rect">
            <a:avLst/>
          </a:prstGeom>
          <a:solidFill>
            <a:schemeClr val="accent5">
              <a:lumMod val="40000"/>
              <a:lumOff val="60000"/>
            </a:schemeClr>
          </a:solidFill>
        </p:spPr>
        <p:txBody>
          <a:bodyPr wrap="square" rtlCol="0">
            <a:spAutoFit/>
          </a:bodyPr>
          <a:lstStyle/>
          <a:p>
            <a:pPr algn="l"/>
            <a:r>
              <a:rPr lang="en-US" sz="1800" b="1" i="0" u="none" strike="noStrike" baseline="0" dirty="0">
                <a:solidFill>
                  <a:srgbClr val="000000"/>
                </a:solidFill>
                <a:latin typeface="StoneSansITCStd-Bold"/>
              </a:rPr>
              <a:t>Program 2-16 </a:t>
            </a:r>
            <a:r>
              <a:rPr lang="en-US" sz="1800" b="1" i="0" u="none" strike="noStrike" baseline="0" dirty="0">
                <a:solidFill>
                  <a:srgbClr val="000000"/>
                </a:solidFill>
                <a:latin typeface="ArialMonoMTPro-Bold"/>
              </a:rPr>
              <a:t>(test_score_average.py)</a:t>
            </a:r>
          </a:p>
          <a:p>
            <a:pPr algn="l"/>
            <a:r>
              <a:rPr lang="en-US" sz="1800" b="0" i="0" u="none" strike="noStrike" baseline="0" dirty="0">
                <a:solidFill>
                  <a:srgbClr val="1473FF"/>
                </a:solidFill>
                <a:latin typeface="ArialMonoMTPro"/>
              </a:rPr>
              <a:t>1 </a:t>
            </a:r>
            <a:r>
              <a:rPr lang="en-US" sz="1800" b="0" i="0" u="none" strike="noStrike" baseline="0" dirty="0">
                <a:solidFill>
                  <a:srgbClr val="000000"/>
                </a:solidFill>
                <a:latin typeface="ArialMonoMTPro"/>
              </a:rPr>
              <a:t># Get three test scores and assign them to the</a:t>
            </a:r>
          </a:p>
          <a:p>
            <a:pPr algn="l"/>
            <a:r>
              <a:rPr lang="en-US" sz="1800" b="0" i="0" u="none" strike="noStrike" baseline="0" dirty="0">
                <a:solidFill>
                  <a:srgbClr val="1473FF"/>
                </a:solidFill>
                <a:latin typeface="ArialMonoMTPro"/>
              </a:rPr>
              <a:t>2 </a:t>
            </a:r>
            <a:r>
              <a:rPr lang="en-US" sz="1800" b="0" i="0" u="none" strike="noStrike" baseline="0" dirty="0">
                <a:solidFill>
                  <a:srgbClr val="000000"/>
                </a:solidFill>
                <a:latin typeface="ArialMonoMTPro"/>
              </a:rPr>
              <a:t># test1, test2, and test3 variables.</a:t>
            </a:r>
          </a:p>
          <a:p>
            <a:pPr algn="l"/>
            <a:r>
              <a:rPr lang="en-US" sz="1800" b="0" i="0" u="none" strike="noStrike" baseline="0" dirty="0">
                <a:solidFill>
                  <a:srgbClr val="1473FF"/>
                </a:solidFill>
                <a:latin typeface="ArialMonoMTPro"/>
              </a:rPr>
              <a:t>3 </a:t>
            </a:r>
            <a:r>
              <a:rPr lang="en-US" sz="1800" b="0" i="0" u="none" strike="noStrike" baseline="0" dirty="0">
                <a:solidFill>
                  <a:srgbClr val="000000"/>
                </a:solidFill>
                <a:latin typeface="ArialMonoMTPro"/>
              </a:rPr>
              <a:t>test1 = float(input('Enter the first test score: '))</a:t>
            </a:r>
          </a:p>
          <a:p>
            <a:pPr algn="l"/>
            <a:r>
              <a:rPr lang="en-US" sz="1800" b="0" i="0" u="none" strike="noStrike" baseline="0" dirty="0">
                <a:solidFill>
                  <a:srgbClr val="1473FF"/>
                </a:solidFill>
                <a:latin typeface="ArialMonoMTPro"/>
              </a:rPr>
              <a:t>4 </a:t>
            </a:r>
            <a:r>
              <a:rPr lang="en-US" sz="1800" b="0" i="0" u="none" strike="noStrike" baseline="0" dirty="0">
                <a:solidFill>
                  <a:srgbClr val="000000"/>
                </a:solidFill>
                <a:latin typeface="ArialMonoMTPro"/>
              </a:rPr>
              <a:t>test2 = float(input('Enter the second test score: '))</a:t>
            </a:r>
          </a:p>
          <a:p>
            <a:pPr algn="l"/>
            <a:r>
              <a:rPr lang="en-US" sz="1800" b="0" i="0" u="none" strike="noStrike" baseline="0" dirty="0">
                <a:solidFill>
                  <a:srgbClr val="1473FF"/>
                </a:solidFill>
                <a:latin typeface="ArialMonoMTPro"/>
              </a:rPr>
              <a:t>5 </a:t>
            </a:r>
            <a:r>
              <a:rPr lang="en-US" sz="1800" b="0" i="0" u="none" strike="noStrike" baseline="0" dirty="0">
                <a:solidFill>
                  <a:srgbClr val="000000"/>
                </a:solidFill>
                <a:latin typeface="ArialMonoMTPro"/>
              </a:rPr>
              <a:t>test3 = float(input('Enter the third test score: '))</a:t>
            </a:r>
          </a:p>
          <a:p>
            <a:pPr algn="l"/>
            <a:r>
              <a:rPr lang="en-MY" sz="1800" b="0" i="0" u="none" strike="noStrike" baseline="0" dirty="0">
                <a:solidFill>
                  <a:srgbClr val="1473FF"/>
                </a:solidFill>
                <a:latin typeface="ArialMonoMTPro"/>
              </a:rPr>
              <a:t>6</a:t>
            </a:r>
          </a:p>
          <a:p>
            <a:pPr algn="l"/>
            <a:r>
              <a:rPr lang="en-US" sz="1800" b="0" i="0" u="none" strike="noStrike" baseline="0" dirty="0">
                <a:solidFill>
                  <a:srgbClr val="1473FF"/>
                </a:solidFill>
                <a:latin typeface="ArialMonoMTPro"/>
              </a:rPr>
              <a:t>7 </a:t>
            </a:r>
            <a:r>
              <a:rPr lang="en-US" sz="1800" b="0" i="0" u="none" strike="noStrike" baseline="0" dirty="0">
                <a:solidFill>
                  <a:srgbClr val="000000"/>
                </a:solidFill>
                <a:latin typeface="ArialMonoMTPro"/>
              </a:rPr>
              <a:t># Calculate the average of the three scores</a:t>
            </a:r>
          </a:p>
          <a:p>
            <a:pPr algn="l"/>
            <a:r>
              <a:rPr lang="en-US" sz="1800" b="0" i="0" u="none" strike="noStrike" baseline="0" dirty="0">
                <a:solidFill>
                  <a:srgbClr val="1473FF"/>
                </a:solidFill>
                <a:latin typeface="ArialMonoMTPro"/>
              </a:rPr>
              <a:t>8 </a:t>
            </a:r>
            <a:r>
              <a:rPr lang="en-US" sz="1800" b="0" i="0" u="none" strike="noStrike" baseline="0" dirty="0">
                <a:solidFill>
                  <a:srgbClr val="000000"/>
                </a:solidFill>
                <a:latin typeface="ArialMonoMTPro"/>
              </a:rPr>
              <a:t># and assign the result to the average variable.</a:t>
            </a:r>
          </a:p>
          <a:p>
            <a:pPr algn="l"/>
            <a:r>
              <a:rPr lang="en-US" sz="1800" b="0" i="0" u="none" strike="noStrike" baseline="0" dirty="0">
                <a:solidFill>
                  <a:srgbClr val="1473FF"/>
                </a:solidFill>
                <a:latin typeface="ArialMonoMTPro"/>
              </a:rPr>
              <a:t>9 </a:t>
            </a:r>
            <a:r>
              <a:rPr lang="en-US" sz="1800" b="0" i="0" u="none" strike="noStrike" baseline="0" dirty="0">
                <a:solidFill>
                  <a:srgbClr val="000000"/>
                </a:solidFill>
                <a:latin typeface="ArialMonoMTPro"/>
              </a:rPr>
              <a:t>average = (test1 + test2 + test3) / 3.0</a:t>
            </a:r>
          </a:p>
          <a:p>
            <a:pPr algn="l"/>
            <a:r>
              <a:rPr lang="en-MY" sz="1800" b="0" i="0" u="none" strike="noStrike" baseline="0" dirty="0">
                <a:solidFill>
                  <a:srgbClr val="1473FF"/>
                </a:solidFill>
                <a:latin typeface="ArialMonoMTPro"/>
              </a:rPr>
              <a:t>10</a:t>
            </a:r>
          </a:p>
          <a:p>
            <a:pPr algn="l"/>
            <a:r>
              <a:rPr lang="en-MY" sz="1800" b="0" i="0" u="none" strike="noStrike" baseline="0" dirty="0">
                <a:solidFill>
                  <a:srgbClr val="1473FF"/>
                </a:solidFill>
                <a:latin typeface="ArialMonoMTPro"/>
              </a:rPr>
              <a:t>11 </a:t>
            </a:r>
            <a:r>
              <a:rPr lang="en-MY" sz="1800" b="0" i="0" u="none" strike="noStrike" baseline="0" dirty="0">
                <a:solidFill>
                  <a:srgbClr val="000000"/>
                </a:solidFill>
                <a:latin typeface="ArialMonoMTPro"/>
              </a:rPr>
              <a:t># Display the average.</a:t>
            </a:r>
          </a:p>
          <a:p>
            <a:pPr algn="l"/>
            <a:r>
              <a:rPr lang="en-US" sz="1800" b="0" i="0" u="none" strike="noStrike" baseline="0" dirty="0">
                <a:solidFill>
                  <a:srgbClr val="1473FF"/>
                </a:solidFill>
                <a:latin typeface="ArialMonoMTPro"/>
              </a:rPr>
              <a:t>12 </a:t>
            </a:r>
            <a:r>
              <a:rPr lang="en-US" sz="1800" b="0" i="0" u="none" strike="noStrike" baseline="0" dirty="0">
                <a:solidFill>
                  <a:srgbClr val="000000"/>
                </a:solidFill>
                <a:latin typeface="ArialMonoMTPro"/>
              </a:rPr>
              <a:t>print('The average score is', average)</a:t>
            </a:r>
          </a:p>
          <a:p>
            <a:pPr algn="l"/>
            <a:r>
              <a:rPr lang="en-US" sz="1800" b="1" i="0" u="none" strike="noStrike" baseline="0" dirty="0">
                <a:solidFill>
                  <a:srgbClr val="000000"/>
                </a:solidFill>
                <a:latin typeface="StoneSansITCStd-Bold"/>
              </a:rPr>
              <a:t>Program Output (</a:t>
            </a:r>
            <a:r>
              <a:rPr lang="en-US" sz="1800" b="0" i="0" u="none" strike="noStrike" baseline="0" dirty="0">
                <a:solidFill>
                  <a:srgbClr val="000000"/>
                </a:solidFill>
                <a:latin typeface="StoneSansITCStd-Medium"/>
              </a:rPr>
              <a:t>with input shown in bold)</a:t>
            </a:r>
          </a:p>
          <a:p>
            <a:pPr algn="l"/>
            <a:r>
              <a:rPr lang="en-US" sz="1800" b="0" i="0" u="none" strike="noStrike" baseline="0" dirty="0">
                <a:solidFill>
                  <a:srgbClr val="000000"/>
                </a:solidFill>
                <a:latin typeface="ArialMonoMTPro"/>
              </a:rPr>
              <a:t>Enter the first test score: </a:t>
            </a:r>
            <a:r>
              <a:rPr lang="en-US" sz="1800" b="1" i="0" u="none" strike="noStrike" baseline="0" dirty="0">
                <a:solidFill>
                  <a:srgbClr val="000000"/>
                </a:solidFill>
                <a:latin typeface="StoneSansITCStd-Bold"/>
              </a:rPr>
              <a:t>90 </a:t>
            </a:r>
            <a:r>
              <a:rPr lang="en-US" sz="1800" b="1" i="0" u="none" strike="noStrike" baseline="0" dirty="0">
                <a:solidFill>
                  <a:srgbClr val="000000"/>
                </a:solidFill>
                <a:latin typeface="ArialMonoMTPro-Bold"/>
              </a:rPr>
              <a:t>Enter</a:t>
            </a:r>
          </a:p>
          <a:p>
            <a:pPr algn="l"/>
            <a:r>
              <a:rPr lang="en-US" sz="1800" b="0" i="0" u="none" strike="noStrike" baseline="0" dirty="0">
                <a:solidFill>
                  <a:srgbClr val="000000"/>
                </a:solidFill>
                <a:latin typeface="ArialMonoMTPro"/>
              </a:rPr>
              <a:t>Enter the second test score: </a:t>
            </a:r>
            <a:r>
              <a:rPr lang="en-US" sz="1800" b="1" i="0" u="none" strike="noStrike" baseline="0" dirty="0">
                <a:solidFill>
                  <a:srgbClr val="000000"/>
                </a:solidFill>
                <a:latin typeface="StoneSansITCStd-Bold"/>
              </a:rPr>
              <a:t>80 </a:t>
            </a:r>
            <a:endParaRPr lang="en-US" sz="1800" b="1" i="0" u="none" strike="noStrike" baseline="0" dirty="0">
              <a:solidFill>
                <a:srgbClr val="000000"/>
              </a:solidFill>
              <a:latin typeface="ArialMonoMTPro-Bold"/>
            </a:endParaRPr>
          </a:p>
          <a:p>
            <a:pPr algn="l"/>
            <a:r>
              <a:rPr lang="en-US" sz="1800" b="0" i="0" u="none" strike="noStrike" baseline="0" dirty="0">
                <a:solidFill>
                  <a:srgbClr val="000000"/>
                </a:solidFill>
                <a:latin typeface="ArialMonoMTPro"/>
              </a:rPr>
              <a:t>Enter the third test score: </a:t>
            </a:r>
            <a:r>
              <a:rPr lang="en-US" sz="1800" b="1" i="0" u="none" strike="noStrike" baseline="0" dirty="0">
                <a:solidFill>
                  <a:srgbClr val="000000"/>
                </a:solidFill>
                <a:latin typeface="StoneSansITCStd-Bold"/>
              </a:rPr>
              <a:t>100 </a:t>
            </a:r>
            <a:endParaRPr lang="en-US" sz="1800" b="1" i="0" u="none" strike="noStrike" baseline="0" dirty="0">
              <a:solidFill>
                <a:srgbClr val="000000"/>
              </a:solidFill>
              <a:latin typeface="ArialMonoMTPro-Bold"/>
            </a:endParaRPr>
          </a:p>
          <a:p>
            <a:pPr algn="l"/>
            <a:r>
              <a:rPr lang="en-US" sz="1800" b="0" i="0" u="none" strike="noStrike" baseline="0" dirty="0">
                <a:solidFill>
                  <a:srgbClr val="000000"/>
                </a:solidFill>
                <a:latin typeface="ArialMonoMTPro"/>
              </a:rPr>
              <a:t>The average score is 90.0</a:t>
            </a:r>
            <a:endParaRPr lang="en-MY" dirty="0"/>
          </a:p>
        </p:txBody>
      </p:sp>
    </p:spTree>
    <p:extLst>
      <p:ext uri="{BB962C8B-B14F-4D97-AF65-F5344CB8AC3E}">
        <p14:creationId xmlns:p14="http://schemas.microsoft.com/office/powerpoint/2010/main" val="3726886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docProps/app.xml><?xml version="1.0" encoding="utf-8"?>
<Properties xmlns="http://schemas.openxmlformats.org/officeDocument/2006/extended-properties" xmlns:vt="http://schemas.openxmlformats.org/officeDocument/2006/docPropsVTypes">
  <Template>TM03457510[[fn=Savon]]</Template>
  <TotalTime>59</TotalTime>
  <Words>1142</Words>
  <Application>Microsoft Office PowerPoint</Application>
  <PresentationFormat>Widescreen</PresentationFormat>
  <Paragraphs>121</Paragraphs>
  <Slides>11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Arial</vt:lpstr>
      <vt:lpstr>ArialMonoMTPro</vt:lpstr>
      <vt:lpstr>ArialMonoMTPro-Bold</vt:lpstr>
      <vt:lpstr>Calibri</vt:lpstr>
      <vt:lpstr>Century Gothic</vt:lpstr>
      <vt:lpstr>SabonLTPro-Roman</vt:lpstr>
      <vt:lpstr>StoneSansITCStd-Bold</vt:lpstr>
      <vt:lpstr>StoneSansITCStd-Medium</vt:lpstr>
      <vt:lpstr>Wingdings</vt:lpstr>
      <vt:lpstr>Savon</vt:lpstr>
      <vt:lpstr>Topic 3: variables and types</vt:lpstr>
      <vt:lpstr>3.1 DATA TYPES</vt:lpstr>
      <vt:lpstr>PowerPoint Presentation</vt:lpstr>
      <vt:lpstr>PowerPoint Presentation</vt:lpstr>
      <vt:lpstr>PowerPoint Presentation</vt:lpstr>
      <vt:lpstr>PowerPoint Presentation</vt:lpstr>
      <vt:lpstr>3.2 Python math library</vt:lpstr>
      <vt:lpstr>PowerPoint Presentation</vt:lpstr>
      <vt:lpstr>Calculating a percentage</vt:lpstr>
      <vt:lpstr>Floating-Point and Integer Division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3: variables and types</dc:title>
  <dc:creator>Thiviya Gunalan</dc:creator>
  <cp:lastModifiedBy>Thiviya Gunalan</cp:lastModifiedBy>
  <cp:revision>7</cp:revision>
  <dcterms:created xsi:type="dcterms:W3CDTF">2023-08-31T13:37:38Z</dcterms:created>
  <dcterms:modified xsi:type="dcterms:W3CDTF">2023-08-31T14:37:21Z</dcterms:modified>
</cp:coreProperties>
</file>